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Mulish"/>
      <p:regular r:id="rId37"/>
      <p:bold r:id="rId38"/>
      <p:italic r:id="rId39"/>
      <p:boldItalic r:id="rId40"/>
    </p:embeddedFont>
    <p:embeddedFont>
      <p:font typeface="Bebas Neue"/>
      <p:regular r:id="rId41"/>
    </p:embeddedFont>
    <p:embeddedFont>
      <p:font typeface="Quicksand"/>
      <p:regular r:id="rId42"/>
      <p:bold r:id="rId43"/>
    </p:embeddedFont>
    <p:embeddedFont>
      <p:font typeface="PT Sans"/>
      <p:regular r:id="rId44"/>
      <p:bold r:id="rId45"/>
      <p:italic r:id="rId46"/>
      <p:boldItalic r:id="rId47"/>
    </p:embeddedFont>
    <p:embeddedFont>
      <p:font typeface="Mulish Medium"/>
      <p:regular r:id="rId48"/>
      <p:bold r:id="rId49"/>
      <p:italic r:id="rId50"/>
      <p:boldItalic r:id="rId51"/>
    </p:embeddedFont>
    <p:embeddedFont>
      <p:font typeface="DM Sans"/>
      <p:regular r:id="rId52"/>
      <p:bold r:id="rId53"/>
      <p:italic r:id="rId54"/>
      <p:boldItalic r:id="rId55"/>
    </p:embeddedFont>
    <p:embeddedFont>
      <p:font typeface="Quicksand Medium"/>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986CAE-6DDC-456D-8090-4472AE06F031}">
  <a:tblStyle styleId="{4B986CAE-6DDC-456D-8090-4472AE06F03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ulish-boldItalic.fntdata"/><Relationship Id="rId42" Type="http://schemas.openxmlformats.org/officeDocument/2006/relationships/font" Target="fonts/Quicksand-regular.fntdata"/><Relationship Id="rId41" Type="http://schemas.openxmlformats.org/officeDocument/2006/relationships/font" Target="fonts/BebasNeue-regular.fntdata"/><Relationship Id="rId44" Type="http://schemas.openxmlformats.org/officeDocument/2006/relationships/font" Target="fonts/PTSans-regular.fntdata"/><Relationship Id="rId43" Type="http://schemas.openxmlformats.org/officeDocument/2006/relationships/font" Target="fonts/Quicksand-bold.fntdata"/><Relationship Id="rId46" Type="http://schemas.openxmlformats.org/officeDocument/2006/relationships/font" Target="fonts/PTSans-italic.fntdata"/><Relationship Id="rId45" Type="http://schemas.openxmlformats.org/officeDocument/2006/relationships/font" Target="fonts/PT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ulishMedium-regular.fntdata"/><Relationship Id="rId47" Type="http://schemas.openxmlformats.org/officeDocument/2006/relationships/font" Target="fonts/PTSans-boldItalic.fntdata"/><Relationship Id="rId49" Type="http://schemas.openxmlformats.org/officeDocument/2006/relationships/font" Target="fonts/MulishMedium-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Mulish-regular.fntdata"/><Relationship Id="rId36" Type="http://schemas.openxmlformats.org/officeDocument/2006/relationships/slide" Target="slides/slide31.xml"/><Relationship Id="rId39" Type="http://schemas.openxmlformats.org/officeDocument/2006/relationships/font" Target="fonts/Mulish-italic.fntdata"/><Relationship Id="rId38" Type="http://schemas.openxmlformats.org/officeDocument/2006/relationships/font" Target="fonts/Mulish-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ulishMedium-boldItalic.fntdata"/><Relationship Id="rId50" Type="http://schemas.openxmlformats.org/officeDocument/2006/relationships/font" Target="fonts/MulishMedium-italic.fntdata"/><Relationship Id="rId53" Type="http://schemas.openxmlformats.org/officeDocument/2006/relationships/font" Target="fonts/DMSans-bold.fntdata"/><Relationship Id="rId52" Type="http://schemas.openxmlformats.org/officeDocument/2006/relationships/font" Target="fonts/DMSans-regular.fntdata"/><Relationship Id="rId11" Type="http://schemas.openxmlformats.org/officeDocument/2006/relationships/slide" Target="slides/slide6.xml"/><Relationship Id="rId55" Type="http://schemas.openxmlformats.org/officeDocument/2006/relationships/font" Target="fonts/DMSans-boldItalic.fntdata"/><Relationship Id="rId10" Type="http://schemas.openxmlformats.org/officeDocument/2006/relationships/slide" Target="slides/slide5.xml"/><Relationship Id="rId54" Type="http://schemas.openxmlformats.org/officeDocument/2006/relationships/font" Target="fonts/DMSans-italic.fntdata"/><Relationship Id="rId13" Type="http://schemas.openxmlformats.org/officeDocument/2006/relationships/slide" Target="slides/slide8.xml"/><Relationship Id="rId57" Type="http://schemas.openxmlformats.org/officeDocument/2006/relationships/font" Target="fonts/QuicksandMedium-bold.fntdata"/><Relationship Id="rId12" Type="http://schemas.openxmlformats.org/officeDocument/2006/relationships/slide" Target="slides/slide7.xml"/><Relationship Id="rId56" Type="http://schemas.openxmlformats.org/officeDocument/2006/relationships/font" Target="fonts/QuicksandMedium-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d431007ba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d431007ba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Gwen, 2: Alvin, 3: Violet, 4&amp;5: Connie, 6: Violet, 7&amp;8: Smriti</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ef4be3e9b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ef4be3e9b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lang="en"/>
              <a:t>f needed to cut down on slide count lets say out loud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161ca7da69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161ca7da69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Gwen - define american dream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54dda1946d_4_2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54dda1946d_4_2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why we choose to apply log transformation to GDPPC: due to the nature of GDPPC having extreme polarity, we can expect a multiplicative change in the output over an additive change in the input - thus by transforming we allow for more accurate models with lower error.</a:t>
            </a:r>
            <a:endParaRPr/>
          </a:p>
          <a:p>
            <a:pPr indent="0" lvl="0" marL="0" rtl="0" algn="l">
              <a:spcBef>
                <a:spcPts val="0"/>
              </a:spcBef>
              <a:spcAft>
                <a:spcPts val="0"/>
              </a:spcAft>
              <a:buNone/>
            </a:pPr>
            <a:r>
              <a:rPr lang="en"/>
              <a:t>We chose to subset because most models require no NA values and to split training and testing data</a:t>
            </a:r>
            <a:endParaRPr/>
          </a:p>
          <a:p>
            <a:pPr indent="0" lvl="0" marL="0" rtl="0" algn="l">
              <a:spcBef>
                <a:spcPts val="0"/>
              </a:spcBef>
              <a:spcAft>
                <a:spcPts val="0"/>
              </a:spcAft>
              <a:buNone/>
            </a:pPr>
            <a:r>
              <a:rPr lang="en"/>
              <a:t>Log transformation for normality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ef8aa445e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ef8aa445e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Alvin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1bf3a35f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1bf3a35f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the less </a:t>
            </a:r>
            <a:r>
              <a:rPr lang="en"/>
              <a:t>commonly</a:t>
            </a:r>
            <a:r>
              <a:rPr lang="en"/>
              <a:t> understood variables like GINI Index (</a:t>
            </a:r>
            <a:r>
              <a:rPr lang="en">
                <a:solidFill>
                  <a:schemeClr val="dk1"/>
                </a:solidFill>
              </a:rPr>
              <a:t>The Gini index measures the extent to which the distribution of income or consumption among individuals or households within an economy deviates from a perfectly equal distribution. A Gini index of 0 represents perfect equality, while an index of 100 implies perfect inequality.)</a:t>
            </a:r>
            <a:r>
              <a:rPr lang="en"/>
              <a:t> and Savings after necessary Expenditures,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FRED - Federal Reserve Economic Data, NCES - National Center of Educational Statistics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ef8aa445e0_2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ef8aa445e0_2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a visualization of Healthcare Monthly premiums, house price, median income, and tuition fees first cpi-adjusted to account for inflation and then indexed to 100 to the year 1984 to show the real percent change.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ef8aa445e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ef8aa445e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that in the legend, fd means a father daughter pair, and fs means a father son pair. The next number represents the percentile that the father’s income was at, for example p50 was 50th percentile.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ef8aa445e0_2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ef8aa445e0_2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ef8aa445e0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ef8aa445e0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ef8aa445e0_2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ef8aa445e0_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ef8aa445e0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ef8aa445e0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Smriti</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ef8aa445e0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ef8aa445e0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each variable that people don’t understand: Social Welfare is the social Welfare as a % of total GDP, House Affordability Index is the inverse of mortgage as a % of Income, where higher values are preferable. Price to Income Ratio is similar but distinct - it is a measure of the apartment purchase affordability, where a lower ratio is preferred. The Gini coefficient is the same as before. Health Care Index is an estimation that evaluates the overall quality and accessibility of the healthcare system, including factors such as healthcare professionals, equipment, staff, doctors, and costs. Education Index measures the quality of education of a country based off of the access to education, cultural values and emphasis on education, and economic standing, where higher values are preferred. Finally, corruption perception Index ranks countries based off of perceived transparency and corruption in government, where 0 is very corrupt and 100 is very clean.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ef8aa445e0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ef8aa445e0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the variables and why we chose to sue them to predict:</a:t>
            </a:r>
            <a:endParaRPr/>
          </a:p>
          <a:p>
            <a:pPr indent="0" lvl="0" marL="0" rtl="0" algn="l">
              <a:spcBef>
                <a:spcPts val="0"/>
              </a:spcBef>
              <a:spcAft>
                <a:spcPts val="0"/>
              </a:spcAft>
              <a:buNone/>
            </a:pPr>
            <a:r>
              <a:rPr lang="en"/>
              <a:t>Social Mobility Index measures vertical social mobility, as the name implies, based off of several measures including but not limited to education </a:t>
            </a:r>
            <a:r>
              <a:rPr lang="en"/>
              <a:t>access and quality, working conditions, fair wage distribution, and how many generations for a low income household to approach mean income.</a:t>
            </a:r>
            <a:endParaRPr/>
          </a:p>
          <a:p>
            <a:pPr indent="0" lvl="0" marL="0" rtl="0" algn="l">
              <a:spcBef>
                <a:spcPts val="0"/>
              </a:spcBef>
              <a:spcAft>
                <a:spcPts val="0"/>
              </a:spcAft>
              <a:buNone/>
            </a:pPr>
            <a:r>
              <a:rPr lang="en"/>
              <a:t>Poverty Rate and GDP Per Capita are strong indicators of a country’s overall prosperity and are key topics of debate regarding socio economic policy. </a:t>
            </a:r>
            <a:endParaRPr/>
          </a:p>
          <a:p>
            <a:pPr indent="0" lvl="0" marL="0" rtl="0" algn="l">
              <a:spcBef>
                <a:spcPts val="0"/>
              </a:spcBef>
              <a:spcAft>
                <a:spcPts val="0"/>
              </a:spcAft>
              <a:buNone/>
            </a:pPr>
            <a:r>
              <a:rPr lang="en"/>
              <a:t>Thus, we choose these three as models for explaining the major factors that go into these variables for a given country as well as predicting what these values will be for new models.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efccaf03bd_3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efccaf03bd_3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AEAEA"/>
                </a:solidFill>
                <a:highlight>
                  <a:srgbClr val="2C2828"/>
                </a:highlight>
                <a:latin typeface="Courier New"/>
                <a:ea typeface="Courier New"/>
                <a:cs typeface="Courier New"/>
                <a:sym typeface="Courier New"/>
              </a:rPr>
              <a:t>Norway"         "Finland"        "Sweden"         "Netherlands"    "Belgium"        "Austria"       </a:t>
            </a:r>
            <a:endParaRPr>
              <a:solidFill>
                <a:srgbClr val="EAEAEA"/>
              </a:solidFill>
              <a:highlight>
                <a:srgbClr val="2C2828"/>
              </a:highlight>
              <a:latin typeface="Courier New"/>
              <a:ea typeface="Courier New"/>
              <a:cs typeface="Courier New"/>
              <a:sym typeface="Courier New"/>
            </a:endParaRPr>
          </a:p>
          <a:p>
            <a:pPr indent="0" lvl="0" marL="0" rtl="0" algn="l">
              <a:spcBef>
                <a:spcPts val="0"/>
              </a:spcBef>
              <a:spcAft>
                <a:spcPts val="0"/>
              </a:spcAft>
              <a:buNone/>
            </a:pPr>
            <a:r>
              <a:rPr lang="en">
                <a:solidFill>
                  <a:srgbClr val="EAEAEA"/>
                </a:solidFill>
                <a:highlight>
                  <a:srgbClr val="2C2828"/>
                </a:highlight>
                <a:latin typeface="Courier New"/>
                <a:ea typeface="Courier New"/>
                <a:cs typeface="Courier New"/>
                <a:sym typeface="Courier New"/>
              </a:rPr>
              <a:t> [7] "Luxembourg"     "France"         "Slovenia"       "Canada"         "Japan"          "Ireland"       </a:t>
            </a:r>
            <a:endParaRPr>
              <a:solidFill>
                <a:srgbClr val="EAEAEA"/>
              </a:solidFill>
              <a:highlight>
                <a:srgbClr val="2C2828"/>
              </a:highlight>
              <a:latin typeface="Courier New"/>
              <a:ea typeface="Courier New"/>
              <a:cs typeface="Courier New"/>
              <a:sym typeface="Courier New"/>
            </a:endParaRPr>
          </a:p>
          <a:p>
            <a:pPr indent="0" lvl="0" marL="0" rtl="0" algn="l">
              <a:spcBef>
                <a:spcPts val="0"/>
              </a:spcBef>
              <a:spcAft>
                <a:spcPts val="0"/>
              </a:spcAft>
              <a:buNone/>
            </a:pPr>
            <a:r>
              <a:rPr lang="en">
                <a:solidFill>
                  <a:srgbClr val="EAEAEA"/>
                </a:solidFill>
                <a:highlight>
                  <a:srgbClr val="2C2828"/>
                </a:highlight>
                <a:latin typeface="Courier New"/>
                <a:ea typeface="Courier New"/>
                <a:cs typeface="Courier New"/>
                <a:sym typeface="Courier New"/>
              </a:rPr>
              <a:t>[13] "United Kingdom" "Estonia"        "Portugal"       "Lithuania"      "United States"  "Spain"         </a:t>
            </a:r>
            <a:endParaRPr>
              <a:solidFill>
                <a:srgbClr val="EAEAEA"/>
              </a:solidFill>
              <a:highlight>
                <a:srgbClr val="2C2828"/>
              </a:highlight>
              <a:latin typeface="Courier New"/>
              <a:ea typeface="Courier New"/>
              <a:cs typeface="Courier New"/>
              <a:sym typeface="Courier New"/>
            </a:endParaRPr>
          </a:p>
          <a:p>
            <a:pPr indent="0" lvl="0" marL="0" rtl="0" algn="l">
              <a:lnSpc>
                <a:spcPct val="120000"/>
              </a:lnSpc>
              <a:spcBef>
                <a:spcPts val="0"/>
              </a:spcBef>
              <a:spcAft>
                <a:spcPts val="0"/>
              </a:spcAft>
              <a:buClr>
                <a:schemeClr val="dk1"/>
              </a:buClr>
              <a:buSzPts val="1100"/>
              <a:buFont typeface="Arial"/>
              <a:buNone/>
            </a:pPr>
            <a:r>
              <a:rPr lang="en">
                <a:solidFill>
                  <a:srgbClr val="EAEAEA"/>
                </a:solidFill>
                <a:highlight>
                  <a:srgbClr val="2C2828"/>
                </a:highlight>
                <a:latin typeface="Courier New"/>
                <a:ea typeface="Courier New"/>
                <a:cs typeface="Courier New"/>
                <a:sym typeface="Courier New"/>
              </a:rPr>
              <a:t>[19] "Poland"         "Latvia"         "Israel"         "Italy"          "Hungary"        "Greece"   </a:t>
            </a:r>
            <a:endParaRPr>
              <a:solidFill>
                <a:srgbClr val="EAEAEA"/>
              </a:solidFill>
              <a:highlight>
                <a:srgbClr val="2C2828"/>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efc1081f6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efc1081f6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Smriti</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efccaf03bd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efccaf03bd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Include within testing data</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ef4be3e0c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ef4be3e0c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ef4be3e0c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ef4be3e0c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Error here in pictured here in USD, linear model vs r lasso, it was more explainable (p-values were better, rlasso does not optimize p-values) + errors were very similar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efccaf03b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efccaf03b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Connie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efccaf03bd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efccaf03bd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Also, talk about each coefficient and the significance, assumptions met/unmet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significance that are close to .05 but not quite there, we can say that although we are not 95% confident it has a positive/negative effect, since they are still .1 significant we have a 90% confidence interval that it has a positive/negative effect.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know correlation is positive for health care and housing affordability, p value tells us we dont know if that correlation matters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efccaf03bd_3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2efccaf03bd_3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chose these 8 variables to change for each prediction; after having seen through our models that Tuition costs had low correlation with our response variables and were rarely significant. We chose our values based off of other countries’ real values in these variables, and created 3 different changed Americas to predict off of: 1, 2, and 3 representing a midball improvement, a best case scenario, and a worst case scenario respectively. It should be noted each model does not use all 8 variables.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Intercept not significant, but our overall model p value is good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efccaf03bd_3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2efccaf03bd_3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chose these 8 variables to change for each prediction; after having seen through our models that Tuition costs had low correlation with our response variables and were rarely significant. We chose our values based off of other countries’ real values in these variables, and created 3 different changed Americas to predict off of: 1, 2, and 3 representing a midball improvement, a best case scenario, and a worst case scenario respectively. It should be noted each model does not use all 8 variables.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2efccaf03bd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2efccaf03bd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Violet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eff8a65413_2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2eff8a65413_2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chose these 8 variables to change for each prediction; after having seen through our models that Tuition costs had low correlation with our response variables and were rarely significant. We chose our values based off of other countries’ real values in these variables, and created 3 different changed Americas to predict off of: 1, 2, and 3 representing a midball improvement, a best case scenario, and a worst case scenario respectively. It should be noted each model does not use all 8 variables.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5b0c82c36f205e45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5b0c82c36f205e45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SMI represents Social Mobility Index, POV is poverty rate, GDP is GDP per Capita in Thousands USD, .R means real values, pred. Means predicted, upp. Means 95% upper confidence interval, low. Means 95% lower confidence interval.</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eff8a65413_1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2eff8a65413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17b871a4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117b871a4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efccaf03bd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efccaf03bd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2f003fa2f22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2f003fa2f22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eff8a65413_1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2eff8a65413_1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3" name="Shape 13"/>
        <p:cNvGrpSpPr/>
        <p:nvPr/>
      </p:nvGrpSpPr>
      <p:grpSpPr>
        <a:xfrm>
          <a:off x="0" y="0"/>
          <a:ext cx="0" cy="0"/>
          <a:chOff x="0" y="0"/>
          <a:chExt cx="0" cy="0"/>
        </a:xfrm>
      </p:grpSpPr>
      <p:sp>
        <p:nvSpPr>
          <p:cNvPr id="14" name="Google Shape;14;p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solidFill>
                  <a:schemeClr val="dk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7" name="Google Shape;17;p3"/>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a:lvl1pPr>
            <a:lvl2pPr lvl="1" rtl="0" algn="ctr">
              <a:lnSpc>
                <a:spcPct val="100000"/>
              </a:lnSpc>
              <a:spcBef>
                <a:spcPts val="1600"/>
              </a:spcBef>
              <a:spcAft>
                <a:spcPts val="0"/>
              </a:spcAft>
              <a:buClr>
                <a:schemeClr val="dk1"/>
              </a:buClr>
              <a:buSzPts val="1400"/>
              <a:buNone/>
              <a:defRPr>
                <a:solidFill>
                  <a:schemeClr val="dk1"/>
                </a:solidFill>
              </a:defRPr>
            </a:lvl2pPr>
            <a:lvl3pPr lvl="2" rtl="0" algn="ctr">
              <a:lnSpc>
                <a:spcPct val="100000"/>
              </a:lnSpc>
              <a:spcBef>
                <a:spcPts val="1600"/>
              </a:spcBef>
              <a:spcAft>
                <a:spcPts val="0"/>
              </a:spcAft>
              <a:buClr>
                <a:schemeClr val="dk1"/>
              </a:buClr>
              <a:buSzPts val="1400"/>
              <a:buNone/>
              <a:defRPr>
                <a:solidFill>
                  <a:schemeClr val="dk1"/>
                </a:solidFill>
              </a:defRPr>
            </a:lvl3pPr>
            <a:lvl4pPr lvl="3" rtl="0" algn="ctr">
              <a:lnSpc>
                <a:spcPct val="100000"/>
              </a:lnSpc>
              <a:spcBef>
                <a:spcPts val="1600"/>
              </a:spcBef>
              <a:spcAft>
                <a:spcPts val="0"/>
              </a:spcAft>
              <a:buClr>
                <a:schemeClr val="dk1"/>
              </a:buClr>
              <a:buSzPts val="1400"/>
              <a:buNone/>
              <a:defRPr>
                <a:solidFill>
                  <a:schemeClr val="dk1"/>
                </a:solidFill>
              </a:defRPr>
            </a:lvl4pPr>
            <a:lvl5pPr lvl="4" rtl="0" algn="ctr">
              <a:lnSpc>
                <a:spcPct val="100000"/>
              </a:lnSpc>
              <a:spcBef>
                <a:spcPts val="1600"/>
              </a:spcBef>
              <a:spcAft>
                <a:spcPts val="0"/>
              </a:spcAft>
              <a:buClr>
                <a:schemeClr val="dk1"/>
              </a:buClr>
              <a:buSzPts val="1400"/>
              <a:buNone/>
              <a:defRPr>
                <a:solidFill>
                  <a:schemeClr val="dk1"/>
                </a:solidFill>
              </a:defRPr>
            </a:lvl5pPr>
            <a:lvl6pPr lvl="5" rtl="0" algn="ctr">
              <a:lnSpc>
                <a:spcPct val="100000"/>
              </a:lnSpc>
              <a:spcBef>
                <a:spcPts val="1600"/>
              </a:spcBef>
              <a:spcAft>
                <a:spcPts val="0"/>
              </a:spcAft>
              <a:buClr>
                <a:schemeClr val="dk1"/>
              </a:buClr>
              <a:buSzPts val="1400"/>
              <a:buNone/>
              <a:defRPr>
                <a:solidFill>
                  <a:schemeClr val="dk1"/>
                </a:solidFill>
              </a:defRPr>
            </a:lvl6pPr>
            <a:lvl7pPr lvl="6" rtl="0" algn="ctr">
              <a:lnSpc>
                <a:spcPct val="100000"/>
              </a:lnSpc>
              <a:spcBef>
                <a:spcPts val="1600"/>
              </a:spcBef>
              <a:spcAft>
                <a:spcPts val="0"/>
              </a:spcAft>
              <a:buClr>
                <a:schemeClr val="dk1"/>
              </a:buClr>
              <a:buSzPts val="1400"/>
              <a:buNone/>
              <a:defRPr>
                <a:solidFill>
                  <a:schemeClr val="dk1"/>
                </a:solidFill>
              </a:defRPr>
            </a:lvl7pPr>
            <a:lvl8pPr lvl="7" rtl="0" algn="ctr">
              <a:lnSpc>
                <a:spcPct val="100000"/>
              </a:lnSpc>
              <a:spcBef>
                <a:spcPts val="1600"/>
              </a:spcBef>
              <a:spcAft>
                <a:spcPts val="0"/>
              </a:spcAft>
              <a:buClr>
                <a:schemeClr val="dk1"/>
              </a:buClr>
              <a:buSzPts val="1400"/>
              <a:buNone/>
              <a:defRPr>
                <a:solidFill>
                  <a:schemeClr val="dk1"/>
                </a:solidFill>
              </a:defRPr>
            </a:lvl8pPr>
            <a:lvl9pPr lvl="8" rtl="0" algn="ctr">
              <a:lnSpc>
                <a:spcPct val="100000"/>
              </a:lnSpc>
              <a:spcBef>
                <a:spcPts val="1600"/>
              </a:spcBef>
              <a:spcAft>
                <a:spcPts val="1600"/>
              </a:spcAft>
              <a:buClr>
                <a:schemeClr val="dk1"/>
              </a:buClr>
              <a:buSzPts val="1400"/>
              <a:buNone/>
              <a:defRPr>
                <a:solidFill>
                  <a:schemeClr val="dk1"/>
                </a:solidFill>
              </a:defRPr>
            </a:lvl9pPr>
          </a:lstStyle>
          <a:p/>
        </p:txBody>
      </p:sp>
      <p:cxnSp>
        <p:nvCxnSpPr>
          <p:cNvPr id="18" name="Google Shape;18;p3"/>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19" name="Google Shape;19;p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0" name="Google Shape;20;p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 name="Google Shape;21;p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2" name="Google Shape;22;p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3" name="Google Shape;23;p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4" name="Google Shape;24;p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5" name="Google Shape;25;p3"/>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 name="Google Shape;28;p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9" name="Google Shape;29;p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 name="Google Shape;30;p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1" name="Google Shape;31;p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2" name="Google Shape;32;p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3" name="Google Shape;33;p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4" name="Google Shape;3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5" name="Google Shape;35;p4"/>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chemeClr val="dk2"/>
              </a:buClr>
              <a:buSzPts val="800"/>
              <a:buFont typeface="Nunito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Clr>
                <a:srgbClr val="FFC800"/>
              </a:buClr>
              <a:buSzPts val="1200"/>
              <a:buFont typeface="Nunito Light"/>
              <a:buChar char="■"/>
              <a:defRPr/>
            </a:lvl3pPr>
            <a:lvl4pPr indent="-304800" lvl="3" marL="1828800" rtl="0">
              <a:lnSpc>
                <a:spcPct val="115000"/>
              </a:lnSpc>
              <a:spcBef>
                <a:spcPts val="1600"/>
              </a:spcBef>
              <a:spcAft>
                <a:spcPts val="0"/>
              </a:spcAft>
              <a:buClr>
                <a:srgbClr val="FFC800"/>
              </a:buClr>
              <a:buSzPts val="1200"/>
              <a:buFont typeface="Nunito Light"/>
              <a:buChar char="●"/>
              <a:defRPr/>
            </a:lvl4pPr>
            <a:lvl5pPr indent="-304800" lvl="4" marL="2286000" rtl="0">
              <a:lnSpc>
                <a:spcPct val="115000"/>
              </a:lnSpc>
              <a:spcBef>
                <a:spcPts val="1600"/>
              </a:spcBef>
              <a:spcAft>
                <a:spcPts val="0"/>
              </a:spcAft>
              <a:buClr>
                <a:srgbClr val="434343"/>
              </a:buClr>
              <a:buSzPts val="1200"/>
              <a:buFont typeface="Nunito Light"/>
              <a:buChar char="○"/>
              <a:defRPr/>
            </a:lvl5pPr>
            <a:lvl6pPr indent="-304800" lvl="5" marL="2743200" rtl="0">
              <a:lnSpc>
                <a:spcPct val="115000"/>
              </a:lnSpc>
              <a:spcBef>
                <a:spcPts val="1600"/>
              </a:spcBef>
              <a:spcAft>
                <a:spcPts val="0"/>
              </a:spcAft>
              <a:buClr>
                <a:srgbClr val="434343"/>
              </a:buClr>
              <a:buSzPts val="1200"/>
              <a:buFont typeface="Nunito Light"/>
              <a:buChar char="■"/>
              <a:defRPr/>
            </a:lvl6pPr>
            <a:lvl7pPr indent="-304800" lvl="6" marL="3200400" rtl="0">
              <a:lnSpc>
                <a:spcPct val="115000"/>
              </a:lnSpc>
              <a:spcBef>
                <a:spcPts val="1600"/>
              </a:spcBef>
              <a:spcAft>
                <a:spcPts val="0"/>
              </a:spcAft>
              <a:buClr>
                <a:srgbClr val="434343"/>
              </a:buClr>
              <a:buSzPts val="1200"/>
              <a:buFont typeface="Nunito Light"/>
              <a:buChar char="●"/>
              <a:defRPr/>
            </a:lvl7pPr>
            <a:lvl8pPr indent="-304800" lvl="7" marL="3657600" rtl="0">
              <a:lnSpc>
                <a:spcPct val="115000"/>
              </a:lnSpc>
              <a:spcBef>
                <a:spcPts val="1600"/>
              </a:spcBef>
              <a:spcAft>
                <a:spcPts val="0"/>
              </a:spcAft>
              <a:buClr>
                <a:srgbClr val="434343"/>
              </a:buClr>
              <a:buSzPts val="1200"/>
              <a:buFont typeface="Nunito Light"/>
              <a:buChar char="○"/>
              <a:defRPr/>
            </a:lvl8pPr>
            <a:lvl9pPr indent="-304800" lvl="8" marL="4114800" rtl="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9" name="Google Shape;39;p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1" name="Google Shape;41;p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2" name="Google Shape;42;p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3" name="Google Shape;43;p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4" name="Google Shape;44;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5" name="Google Shape;45;p5"/>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1400"/>
              <a:buChar char="●"/>
              <a:defRPr b="0" sz="1400"/>
            </a:lvl1pPr>
            <a:lvl2pPr lvl="1" rtl="0" algn="ctr">
              <a:lnSpc>
                <a:spcPct val="100000"/>
              </a:lnSpc>
              <a:spcBef>
                <a:spcPts val="0"/>
              </a:spcBef>
              <a:spcAft>
                <a:spcPts val="0"/>
              </a:spcAft>
              <a:buSzPts val="2800"/>
              <a:buChar char="○"/>
              <a:defRPr sz="2800"/>
            </a:lvl2pPr>
            <a:lvl3pPr lvl="2" rtl="0" algn="ctr">
              <a:lnSpc>
                <a:spcPct val="100000"/>
              </a:lnSpc>
              <a:spcBef>
                <a:spcPts val="0"/>
              </a:spcBef>
              <a:spcAft>
                <a:spcPts val="0"/>
              </a:spcAft>
              <a:buSzPts val="2800"/>
              <a:buChar char="■"/>
              <a:defRPr sz="2800"/>
            </a:lvl3pPr>
            <a:lvl4pPr lvl="3" rtl="0" algn="ctr">
              <a:lnSpc>
                <a:spcPct val="100000"/>
              </a:lnSpc>
              <a:spcBef>
                <a:spcPts val="0"/>
              </a:spcBef>
              <a:spcAft>
                <a:spcPts val="0"/>
              </a:spcAft>
              <a:buSzPts val="2800"/>
              <a:buChar char="●"/>
              <a:defRPr sz="2800"/>
            </a:lvl4pPr>
            <a:lvl5pPr lvl="4" rtl="0" algn="ctr">
              <a:lnSpc>
                <a:spcPct val="100000"/>
              </a:lnSpc>
              <a:spcBef>
                <a:spcPts val="0"/>
              </a:spcBef>
              <a:spcAft>
                <a:spcPts val="0"/>
              </a:spcAft>
              <a:buSzPts val="2800"/>
              <a:buChar char="○"/>
              <a:defRPr sz="2800"/>
            </a:lvl5pPr>
            <a:lvl6pPr lvl="5" rtl="0" algn="ctr">
              <a:lnSpc>
                <a:spcPct val="100000"/>
              </a:lnSpc>
              <a:spcBef>
                <a:spcPts val="0"/>
              </a:spcBef>
              <a:spcAft>
                <a:spcPts val="0"/>
              </a:spcAft>
              <a:buSzPts val="2800"/>
              <a:buChar char="■"/>
              <a:defRPr sz="2800"/>
            </a:lvl6pPr>
            <a:lvl7pPr lvl="6" rtl="0" algn="ctr">
              <a:lnSpc>
                <a:spcPct val="100000"/>
              </a:lnSpc>
              <a:spcBef>
                <a:spcPts val="0"/>
              </a:spcBef>
              <a:spcAft>
                <a:spcPts val="0"/>
              </a:spcAft>
              <a:buSzPts val="2800"/>
              <a:buChar char="●"/>
              <a:defRPr sz="2800"/>
            </a:lvl7pPr>
            <a:lvl8pPr lvl="7" rtl="0" algn="ctr">
              <a:lnSpc>
                <a:spcPct val="100000"/>
              </a:lnSpc>
              <a:spcBef>
                <a:spcPts val="0"/>
              </a:spcBef>
              <a:spcAft>
                <a:spcPts val="0"/>
              </a:spcAft>
              <a:buSzPts val="2800"/>
              <a:buChar char="○"/>
              <a:defRPr sz="2800"/>
            </a:lvl8pPr>
            <a:lvl9pPr lvl="8" rtl="0" algn="ctr">
              <a:lnSpc>
                <a:spcPct val="100000"/>
              </a:lnSpc>
              <a:spcBef>
                <a:spcPts val="0"/>
              </a:spcBef>
              <a:spcAft>
                <a:spcPts val="0"/>
              </a:spcAft>
              <a:buSzPts val="2800"/>
              <a:buChar char="■"/>
              <a:defRPr sz="2800"/>
            </a:lvl9pPr>
          </a:lstStyle>
          <a:p/>
        </p:txBody>
      </p:sp>
      <p:sp>
        <p:nvSpPr>
          <p:cNvPr id="46" name="Google Shape;46;p5"/>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1400"/>
              <a:buChar char="●"/>
              <a:defRPr b="0" sz="1400"/>
            </a:lvl1pPr>
            <a:lvl2pPr lvl="1" rtl="0" algn="ctr">
              <a:lnSpc>
                <a:spcPct val="100000"/>
              </a:lnSpc>
              <a:spcBef>
                <a:spcPts val="1600"/>
              </a:spcBef>
              <a:spcAft>
                <a:spcPts val="0"/>
              </a:spcAft>
              <a:buSzPts val="1400"/>
              <a:buChar char="○"/>
              <a:defRPr sz="2800"/>
            </a:lvl2pPr>
            <a:lvl3pPr lvl="2" rtl="0" algn="ctr">
              <a:lnSpc>
                <a:spcPct val="100000"/>
              </a:lnSpc>
              <a:spcBef>
                <a:spcPts val="0"/>
              </a:spcBef>
              <a:spcAft>
                <a:spcPts val="0"/>
              </a:spcAft>
              <a:buSzPts val="1400"/>
              <a:buChar char="■"/>
              <a:defRPr sz="2800"/>
            </a:lvl3pPr>
            <a:lvl4pPr lvl="3" rtl="0" algn="ctr">
              <a:lnSpc>
                <a:spcPct val="100000"/>
              </a:lnSpc>
              <a:spcBef>
                <a:spcPts val="0"/>
              </a:spcBef>
              <a:spcAft>
                <a:spcPts val="0"/>
              </a:spcAft>
              <a:buSzPts val="1400"/>
              <a:buChar char="●"/>
              <a:defRPr sz="2800"/>
            </a:lvl4pPr>
            <a:lvl5pPr lvl="4" rtl="0" algn="ctr">
              <a:lnSpc>
                <a:spcPct val="100000"/>
              </a:lnSpc>
              <a:spcBef>
                <a:spcPts val="0"/>
              </a:spcBef>
              <a:spcAft>
                <a:spcPts val="0"/>
              </a:spcAft>
              <a:buSzPts val="1400"/>
              <a:buChar char="○"/>
              <a:defRPr sz="2800"/>
            </a:lvl5pPr>
            <a:lvl6pPr lvl="5" rtl="0" algn="ctr">
              <a:lnSpc>
                <a:spcPct val="100000"/>
              </a:lnSpc>
              <a:spcBef>
                <a:spcPts val="0"/>
              </a:spcBef>
              <a:spcAft>
                <a:spcPts val="0"/>
              </a:spcAft>
              <a:buSzPts val="1400"/>
              <a:buChar char="■"/>
              <a:defRPr sz="2800"/>
            </a:lvl6pPr>
            <a:lvl7pPr lvl="6" rtl="0" algn="ctr">
              <a:lnSpc>
                <a:spcPct val="100000"/>
              </a:lnSpc>
              <a:spcBef>
                <a:spcPts val="0"/>
              </a:spcBef>
              <a:spcAft>
                <a:spcPts val="0"/>
              </a:spcAft>
              <a:buSzPts val="1400"/>
              <a:buChar char="●"/>
              <a:defRPr sz="2800"/>
            </a:lvl7pPr>
            <a:lvl8pPr lvl="7" rtl="0" algn="ctr">
              <a:lnSpc>
                <a:spcPct val="100000"/>
              </a:lnSpc>
              <a:spcBef>
                <a:spcPts val="0"/>
              </a:spcBef>
              <a:spcAft>
                <a:spcPts val="0"/>
              </a:spcAft>
              <a:buSzPts val="1400"/>
              <a:buChar char="○"/>
              <a:defRPr sz="2800"/>
            </a:lvl8pPr>
            <a:lvl9pPr lvl="8" rtl="0" algn="ctr">
              <a:lnSpc>
                <a:spcPct val="100000"/>
              </a:lnSpc>
              <a:spcBef>
                <a:spcPts val="0"/>
              </a:spcBef>
              <a:spcAft>
                <a:spcPts val="0"/>
              </a:spcAft>
              <a:buSzPts val="1400"/>
              <a:buChar char="■"/>
              <a:defRPr sz="2800"/>
            </a:lvl9pPr>
          </a:lstStyle>
          <a:p/>
        </p:txBody>
      </p:sp>
      <p:sp>
        <p:nvSpPr>
          <p:cNvPr id="47" name="Google Shape;47;p5"/>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8" name="Google Shape;48;p5"/>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 name="Google Shape;51;p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2" name="Google Shape;52;p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 name="Google Shape;53;p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4" name="Google Shape;54;p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5" name="Google Shape;55;p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6" name="Google Shape;56;p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7" name="Google Shape;57;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8" name="Shape 58"/>
        <p:cNvGrpSpPr/>
        <p:nvPr/>
      </p:nvGrpSpPr>
      <p:grpSpPr>
        <a:xfrm>
          <a:off x="0" y="0"/>
          <a:ext cx="0" cy="0"/>
          <a:chOff x="0" y="0"/>
          <a:chExt cx="0" cy="0"/>
        </a:xfrm>
      </p:grpSpPr>
      <p:sp>
        <p:nvSpPr>
          <p:cNvPr id="59" name="Google Shape;59;p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p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1" name="Google Shape;61;p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 name="Google Shape;62;p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3" name="Google Shape;63;p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4" name="Google Shape;64;p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5" name="Google Shape;65;p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6" name="Google Shape;66;p7"/>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 name="Google Shape;67;p7"/>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sz="16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71" name="Google Shape;71;p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2" name="Google Shape;72;p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 name="Google Shape;73;p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4" name="Google Shape;74;p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5" name="Google Shape;75;p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6" name="Google Shape;76;p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9"/>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9" name="Google Shape;79;p9"/>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0" name="Google Shape;80;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1" name="Shape 81"/>
        <p:cNvGrpSpPr/>
        <p:nvPr/>
      </p:nvGrpSpPr>
      <p:grpSpPr>
        <a:xfrm>
          <a:off x="0" y="0"/>
          <a:ext cx="0" cy="0"/>
          <a:chOff x="0" y="0"/>
          <a:chExt cx="0" cy="0"/>
        </a:xfrm>
      </p:grpSpPr>
      <p:sp>
        <p:nvSpPr>
          <p:cNvPr id="82" name="Google Shape;82;p10"/>
          <p:cNvSpPr/>
          <p:nvPr>
            <p:ph idx="2" type="pic"/>
          </p:nvPr>
        </p:nvSpPr>
        <p:spPr>
          <a:xfrm>
            <a:off x="0" y="0"/>
            <a:ext cx="9144000" cy="5143500"/>
          </a:xfrm>
          <a:prstGeom prst="rect">
            <a:avLst/>
          </a:prstGeom>
          <a:noFill/>
          <a:ln>
            <a:noFill/>
          </a:ln>
        </p:spPr>
      </p:sp>
      <p:sp>
        <p:nvSpPr>
          <p:cNvPr id="83" name="Google Shape;83;p10"/>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dk2"/>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4" name="Shape 84"/>
        <p:cNvGrpSpPr/>
        <p:nvPr/>
      </p:nvGrpSpPr>
      <p:grpSpPr>
        <a:xfrm>
          <a:off x="0" y="0"/>
          <a:ext cx="0" cy="0"/>
          <a:chOff x="0" y="0"/>
          <a:chExt cx="0" cy="0"/>
        </a:xfrm>
      </p:grpSpPr>
      <p:sp>
        <p:nvSpPr>
          <p:cNvPr id="85" name="Google Shape;85;p1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 name="Google Shape;86;p1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7" name="Google Shape;87;p1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1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9" name="Google Shape;89;p1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0" name="Google Shape;90;p1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1" name="Google Shape;91;p1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2" name="Google Shape;92;p11"/>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3" name="Google Shape;93;p11"/>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94" name="Shape 9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5" name="Shape 95"/>
        <p:cNvGrpSpPr/>
        <p:nvPr/>
      </p:nvGrpSpPr>
      <p:grpSpPr>
        <a:xfrm>
          <a:off x="0" y="0"/>
          <a:ext cx="0" cy="0"/>
          <a:chOff x="0" y="0"/>
          <a:chExt cx="0" cy="0"/>
        </a:xfrm>
      </p:grpSpPr>
      <p:sp>
        <p:nvSpPr>
          <p:cNvPr id="96" name="Google Shape;96;p1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8" name="Google Shape;98;p13"/>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9" name="Google Shape;99;p13"/>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0" name="Google Shape;100;p13"/>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1" name="Google Shape;101;p13"/>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 name="Google Shape;102;p13"/>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3"/>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7" name="Google Shape;107;p13"/>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8" name="Google Shape;108;p13"/>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Font typeface="Bebas Neue"/>
              <a:buNone/>
              <a:defRPr b="1" sz="2000">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1" name="Google Shape;111;p13"/>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Font typeface="Bebas Neue"/>
              <a:buNone/>
              <a:defRPr b="1" sz="2000">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2" name="Google Shape;112;p13"/>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Font typeface="Bebas Neue"/>
              <a:buNone/>
              <a:defRPr b="1" sz="2000">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3" name="Google Shape;113;p13"/>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Font typeface="Bebas Neue"/>
              <a:buNone/>
              <a:defRPr b="1" sz="2000">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4" name="Google Shape;114;p13"/>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Font typeface="Bebas Neue"/>
              <a:buNone/>
              <a:defRPr b="1" sz="2000">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5" name="Google Shape;115;p13"/>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Font typeface="Bebas Neue"/>
              <a:buNone/>
              <a:defRPr b="1" sz="2000">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116" name="Google Shape;116;p1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7" name="Google Shape;117;p1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 name="Google Shape;118;p1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9" name="Google Shape;119;p1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0" name="Google Shape;120;p1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1" name="Google Shape;121;p1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2" name="Shape 122"/>
        <p:cNvGrpSpPr/>
        <p:nvPr/>
      </p:nvGrpSpPr>
      <p:grpSpPr>
        <a:xfrm>
          <a:off x="0" y="0"/>
          <a:ext cx="0" cy="0"/>
          <a:chOff x="0" y="0"/>
          <a:chExt cx="0" cy="0"/>
        </a:xfrm>
      </p:grpSpPr>
      <p:sp>
        <p:nvSpPr>
          <p:cNvPr id="123" name="Google Shape;123;p1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4" name="Google Shape;124;p1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5" name="Google Shape;125;p1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 name="Google Shape;126;p1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7" name="Google Shape;127;p1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8" name="Google Shape;128;p1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9" name="Google Shape;129;p1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0" name="Google Shape;130;p14"/>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a:solidFill>
                  <a:schemeClr val="dk2"/>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31" name="Google Shape;131;p14"/>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32" name="Shape 132"/>
        <p:cNvGrpSpPr/>
        <p:nvPr/>
      </p:nvGrpSpPr>
      <p:grpSpPr>
        <a:xfrm>
          <a:off x="0" y="0"/>
          <a:ext cx="0" cy="0"/>
          <a:chOff x="0" y="0"/>
          <a:chExt cx="0" cy="0"/>
        </a:xfrm>
      </p:grpSpPr>
      <p:sp>
        <p:nvSpPr>
          <p:cNvPr id="133" name="Google Shape;133;p1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4" name="Google Shape;134;p1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5" name="Google Shape;135;p1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 name="Google Shape;136;p1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7" name="Google Shape;137;p1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8" name="Google Shape;138;p1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9" name="Google Shape;139;p1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40" name="Google Shape;140;p15"/>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1" name="Google Shape;141;p15"/>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2" name="Google Shape;142;p15"/>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43" name="Shape 143"/>
        <p:cNvGrpSpPr/>
        <p:nvPr/>
      </p:nvGrpSpPr>
      <p:grpSpPr>
        <a:xfrm>
          <a:off x="0" y="0"/>
          <a:ext cx="0" cy="0"/>
          <a:chOff x="0" y="0"/>
          <a:chExt cx="0" cy="0"/>
        </a:xfrm>
      </p:grpSpPr>
      <p:sp>
        <p:nvSpPr>
          <p:cNvPr id="144" name="Google Shape;144;p1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 name="Google Shape;145;p1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46" name="Google Shape;146;p1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 name="Google Shape;147;p1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48" name="Google Shape;148;p1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49" name="Google Shape;149;p1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50" name="Google Shape;150;p1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51" name="Google Shape;151;p16"/>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2" name="Google Shape;152;p16"/>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3" name="Shape 153"/>
        <p:cNvGrpSpPr/>
        <p:nvPr/>
      </p:nvGrpSpPr>
      <p:grpSpPr>
        <a:xfrm>
          <a:off x="0" y="0"/>
          <a:ext cx="0" cy="0"/>
          <a:chOff x="0" y="0"/>
          <a:chExt cx="0" cy="0"/>
        </a:xfrm>
      </p:grpSpPr>
      <p:sp>
        <p:nvSpPr>
          <p:cNvPr id="154" name="Google Shape;154;p1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5" name="Google Shape;155;p1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56" name="Google Shape;156;p1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7" name="Google Shape;157;p1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58" name="Google Shape;158;p1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59" name="Google Shape;159;p1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60" name="Google Shape;160;p1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61" name="Google Shape;16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2" name="Google Shape;162;p17"/>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3" name="Google Shape;163;p17"/>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4" name="Google Shape;164;p17"/>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5" name="Google Shape;165;p17"/>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66" name="Google Shape;166;p17"/>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67" name="Google Shape;167;p17"/>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68" name="Shape 168"/>
        <p:cNvGrpSpPr/>
        <p:nvPr/>
      </p:nvGrpSpPr>
      <p:grpSpPr>
        <a:xfrm>
          <a:off x="0" y="0"/>
          <a:ext cx="0" cy="0"/>
          <a:chOff x="0" y="0"/>
          <a:chExt cx="0" cy="0"/>
        </a:xfrm>
      </p:grpSpPr>
      <p:sp>
        <p:nvSpPr>
          <p:cNvPr id="169" name="Google Shape;169;p1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0" name="Google Shape;170;p1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71" name="Google Shape;171;p1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2" name="Google Shape;172;p1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73" name="Google Shape;173;p1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74" name="Google Shape;174;p1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75" name="Google Shape;175;p1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76" name="Google Shape;176;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7" name="Google Shape;177;p18"/>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78" name="Google Shape;178;p18"/>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79" name="Google Shape;179;p18"/>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80" name="Google Shape;180;p18"/>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81" name="Google Shape;181;p18"/>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82" name="Google Shape;182;p18"/>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83" name="Shape 183"/>
        <p:cNvGrpSpPr/>
        <p:nvPr/>
      </p:nvGrpSpPr>
      <p:grpSpPr>
        <a:xfrm>
          <a:off x="0" y="0"/>
          <a:ext cx="0" cy="0"/>
          <a:chOff x="0" y="0"/>
          <a:chExt cx="0" cy="0"/>
        </a:xfrm>
      </p:grpSpPr>
      <p:sp>
        <p:nvSpPr>
          <p:cNvPr id="184" name="Google Shape;184;p1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5" name="Google Shape;185;p1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86" name="Google Shape;186;p1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 name="Google Shape;187;p1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88" name="Google Shape;188;p1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89" name="Google Shape;189;p1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90" name="Google Shape;190;p1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91" name="Google Shape;191;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2" name="Google Shape;192;p19"/>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93" name="Google Shape;193;p19"/>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94" name="Google Shape;194;p19"/>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95" name="Google Shape;195;p19"/>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96" name="Google Shape;196;p19"/>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97" name="Google Shape;197;p19"/>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98" name="Shape 198"/>
        <p:cNvGrpSpPr/>
        <p:nvPr/>
      </p:nvGrpSpPr>
      <p:grpSpPr>
        <a:xfrm>
          <a:off x="0" y="0"/>
          <a:ext cx="0" cy="0"/>
          <a:chOff x="0" y="0"/>
          <a:chExt cx="0" cy="0"/>
        </a:xfrm>
      </p:grpSpPr>
      <p:sp>
        <p:nvSpPr>
          <p:cNvPr id="199" name="Google Shape;199;p2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 name="Google Shape;200;p2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01" name="Google Shape;201;p2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2" name="Google Shape;202;p2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03" name="Google Shape;203;p2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04" name="Google Shape;204;p2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05" name="Google Shape;205;p2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06" name="Google Shape;206;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7" name="Google Shape;207;p20"/>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8" name="Google Shape;208;p20"/>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9" name="Google Shape;209;p20"/>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0" name="Google Shape;210;p20"/>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1" name="Google Shape;211;p20"/>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12" name="Google Shape;212;p20"/>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13" name="Google Shape;213;p20"/>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14" name="Google Shape;214;p20"/>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15" name="Shape 215"/>
        <p:cNvGrpSpPr/>
        <p:nvPr/>
      </p:nvGrpSpPr>
      <p:grpSpPr>
        <a:xfrm>
          <a:off x="0" y="0"/>
          <a:ext cx="0" cy="0"/>
          <a:chOff x="0" y="0"/>
          <a:chExt cx="0" cy="0"/>
        </a:xfrm>
      </p:grpSpPr>
      <p:sp>
        <p:nvSpPr>
          <p:cNvPr id="216" name="Google Shape;216;p2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7" name="Google Shape;217;p2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18" name="Google Shape;218;p2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9" name="Google Shape;219;p2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20" name="Google Shape;220;p2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21" name="Google Shape;221;p2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22" name="Google Shape;222;p2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23" name="Google Shape;22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4" name="Google Shape;224;p21"/>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5" name="Google Shape;225;p21"/>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6" name="Google Shape;226;p21"/>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7" name="Google Shape;227;p21"/>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8" name="Google Shape;228;p21"/>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9" name="Google Shape;229;p21"/>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0" name="Google Shape;230;p21"/>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1" name="Google Shape;231;p21"/>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 name="Google Shape;232;p21"/>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3" name="Google Shape;233;p21"/>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4" name="Google Shape;234;p21"/>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5" name="Google Shape;235;p21"/>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236" name="Shape 236"/>
        <p:cNvGrpSpPr/>
        <p:nvPr/>
      </p:nvGrpSpPr>
      <p:grpSpPr>
        <a:xfrm>
          <a:off x="0" y="0"/>
          <a:ext cx="0" cy="0"/>
          <a:chOff x="0" y="0"/>
          <a:chExt cx="0" cy="0"/>
        </a:xfrm>
      </p:grpSpPr>
      <p:sp>
        <p:nvSpPr>
          <p:cNvPr id="237" name="Google Shape;237;p2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8" name="Google Shape;238;p2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39" name="Google Shape;239;p2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0" name="Google Shape;240;p2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41" name="Google Shape;241;p2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42" name="Google Shape;242;p2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dk2"/>
                </a:solidFill>
              </a:defRPr>
            </a:lvl1pPr>
            <a:lvl2pPr lvl="1" rtl="0" algn="ctr">
              <a:buNone/>
              <a:defRPr>
                <a:solidFill>
                  <a:schemeClr val="dk2"/>
                </a:solidFill>
              </a:defRPr>
            </a:lvl2pPr>
            <a:lvl3pPr lvl="2" rtl="0" algn="ctr">
              <a:buNone/>
              <a:defRPr>
                <a:solidFill>
                  <a:schemeClr val="dk2"/>
                </a:solidFill>
              </a:defRPr>
            </a:lvl3pPr>
            <a:lvl4pPr lvl="3" rtl="0" algn="ctr">
              <a:buNone/>
              <a:defRPr>
                <a:solidFill>
                  <a:schemeClr val="dk2"/>
                </a:solidFill>
              </a:defRPr>
            </a:lvl4pPr>
            <a:lvl5pPr lvl="4" rtl="0" algn="ctr">
              <a:buNone/>
              <a:defRPr>
                <a:solidFill>
                  <a:schemeClr val="dk2"/>
                </a:solidFill>
              </a:defRPr>
            </a:lvl5pPr>
            <a:lvl6pPr lvl="5" rtl="0" algn="ctr">
              <a:buNone/>
              <a:defRPr>
                <a:solidFill>
                  <a:schemeClr val="dk2"/>
                </a:solidFill>
              </a:defRPr>
            </a:lvl6pPr>
            <a:lvl7pPr lvl="6" rtl="0" algn="ctr">
              <a:buNone/>
              <a:defRPr>
                <a:solidFill>
                  <a:schemeClr val="dk2"/>
                </a:solidFill>
              </a:defRPr>
            </a:lvl7pPr>
            <a:lvl8pPr lvl="7" rtl="0" algn="ctr">
              <a:buNone/>
              <a:defRPr>
                <a:solidFill>
                  <a:schemeClr val="dk2"/>
                </a:solidFill>
              </a:defRPr>
            </a:lvl8pPr>
            <a:lvl9pPr lvl="8" rtl="0"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43" name="Google Shape;243;p2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44" name="Google Shape;244;p22"/>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5" name="Google Shape;245;p22"/>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6" name="Google Shape;246;p22"/>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7" name="Google Shape;247;p22"/>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8" name="Google Shape;248;p22"/>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9" name="Google Shape;249;p22"/>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50" name="Shape 250"/>
        <p:cNvGrpSpPr/>
        <p:nvPr/>
      </p:nvGrpSpPr>
      <p:grpSpPr>
        <a:xfrm>
          <a:off x="0" y="0"/>
          <a:ext cx="0" cy="0"/>
          <a:chOff x="0" y="0"/>
          <a:chExt cx="0" cy="0"/>
        </a:xfrm>
      </p:grpSpPr>
      <p:sp>
        <p:nvSpPr>
          <p:cNvPr id="251" name="Google Shape;251;p2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3"/>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7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3" name="Google Shape;253;p23"/>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4" name="Google Shape;254;p23"/>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255" name="Google Shape;255;p2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56" name="Google Shape;256;p2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7" name="Google Shape;257;p2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58" name="Google Shape;258;p23"/>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259" name="Shape 259"/>
        <p:cNvGrpSpPr/>
        <p:nvPr/>
      </p:nvGrpSpPr>
      <p:grpSpPr>
        <a:xfrm>
          <a:off x="0" y="0"/>
          <a:ext cx="0" cy="0"/>
          <a:chOff x="0" y="0"/>
          <a:chExt cx="0" cy="0"/>
        </a:xfrm>
      </p:grpSpPr>
      <p:sp>
        <p:nvSpPr>
          <p:cNvPr id="260" name="Google Shape;260;p2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262" name="Google Shape;262;p2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63" name="Google Shape;263;p2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 name="Google Shape;264;p2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65" name="Google Shape;265;p2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66" name="Google Shape;266;p24"/>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rtl="0" algn="ctr">
              <a:buNone/>
              <a:defRPr>
                <a:solidFill>
                  <a:schemeClr val="lt1"/>
                </a:solidFill>
              </a:defRPr>
            </a:lvl1pPr>
            <a:lvl2pPr lvl="1" rtl="0" algn="ctr">
              <a:buNone/>
              <a:defRPr>
                <a:solidFill>
                  <a:schemeClr val="lt1"/>
                </a:solidFill>
              </a:defRPr>
            </a:lvl2pPr>
            <a:lvl3pPr lvl="2" rtl="0" algn="ctr">
              <a:buNone/>
              <a:defRPr>
                <a:solidFill>
                  <a:schemeClr val="lt1"/>
                </a:solidFill>
              </a:defRPr>
            </a:lvl3pPr>
            <a:lvl4pPr lvl="3" rtl="0" algn="ctr">
              <a:buNone/>
              <a:defRPr>
                <a:solidFill>
                  <a:schemeClr val="lt1"/>
                </a:solidFill>
              </a:defRPr>
            </a:lvl4pPr>
            <a:lvl5pPr lvl="4" rtl="0" algn="ctr">
              <a:buNone/>
              <a:defRPr>
                <a:solidFill>
                  <a:schemeClr val="lt1"/>
                </a:solidFill>
              </a:defRPr>
            </a:lvl5pPr>
            <a:lvl6pPr lvl="5" rtl="0" algn="ctr">
              <a:buNone/>
              <a:defRPr>
                <a:solidFill>
                  <a:schemeClr val="lt1"/>
                </a:solidFill>
              </a:defRPr>
            </a:lvl6pPr>
            <a:lvl7pPr lvl="6" rtl="0" algn="ctr">
              <a:buNone/>
              <a:defRPr>
                <a:solidFill>
                  <a:schemeClr val="lt1"/>
                </a:solidFill>
              </a:defRPr>
            </a:lvl7pPr>
            <a:lvl8pPr lvl="7" rtl="0" algn="ctr">
              <a:buNone/>
              <a:defRPr>
                <a:solidFill>
                  <a:schemeClr val="lt1"/>
                </a:solidFill>
              </a:defRPr>
            </a:lvl8pPr>
            <a:lvl9pPr lvl="8" rtl="0"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67" name="Google Shape;267;p2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268" name="Shape 268"/>
        <p:cNvGrpSpPr/>
        <p:nvPr/>
      </p:nvGrpSpPr>
      <p:grpSpPr>
        <a:xfrm>
          <a:off x="0" y="0"/>
          <a:ext cx="0" cy="0"/>
          <a:chOff x="0" y="0"/>
          <a:chExt cx="0" cy="0"/>
        </a:xfrm>
      </p:grpSpPr>
      <p:sp>
        <p:nvSpPr>
          <p:cNvPr id="269" name="Google Shape;269;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2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1" name="Google Shape;271;p2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72" name="Google Shape;272;p2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3" name="Google Shape;273;p2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74" name="Google Shape;274;p25"/>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7" name="Google Shape;7;p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transition spd="med">
    <p:push/>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8" name="Shape 278"/>
        <p:cNvGrpSpPr/>
        <p:nvPr/>
      </p:nvGrpSpPr>
      <p:grpSpPr>
        <a:xfrm>
          <a:off x="0" y="0"/>
          <a:ext cx="0" cy="0"/>
          <a:chOff x="0" y="0"/>
          <a:chExt cx="0" cy="0"/>
        </a:xfrm>
      </p:grpSpPr>
      <p:sp>
        <p:nvSpPr>
          <p:cNvPr id="279" name="Google Shape;279;p26"/>
          <p:cNvSpPr txBox="1"/>
          <p:nvPr>
            <p:ph type="ctrTitle"/>
          </p:nvPr>
        </p:nvSpPr>
        <p:spPr>
          <a:xfrm>
            <a:off x="269075" y="1424875"/>
            <a:ext cx="8610300" cy="207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800"/>
              <a:t>The Collapse of the American Dream:</a:t>
            </a:r>
            <a:endParaRPr sz="3800"/>
          </a:p>
          <a:p>
            <a:pPr indent="0" lvl="0" marL="0" rtl="0" algn="ctr">
              <a:spcBef>
                <a:spcPts val="0"/>
              </a:spcBef>
              <a:spcAft>
                <a:spcPts val="0"/>
              </a:spcAft>
              <a:buNone/>
            </a:pPr>
            <a:r>
              <a:rPr i="1" lang="en" sz="2500"/>
              <a:t>From “Rags to Riches” to the “Ragged and the Rich”</a:t>
            </a:r>
            <a:endParaRPr i="1" sz="2500"/>
          </a:p>
        </p:txBody>
      </p:sp>
      <p:sp>
        <p:nvSpPr>
          <p:cNvPr id="280" name="Google Shape;280;p26"/>
          <p:cNvSpPr txBox="1"/>
          <p:nvPr>
            <p:ph idx="1" type="subTitle"/>
          </p:nvPr>
        </p:nvSpPr>
        <p:spPr>
          <a:xfrm>
            <a:off x="1609200" y="3573775"/>
            <a:ext cx="59427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John Wu, Connie Lu, Smriti Vijay, Gwen Gao, Alvin Li</a:t>
            </a:r>
            <a:endParaRPr/>
          </a:p>
        </p:txBody>
      </p:sp>
      <p:cxnSp>
        <p:nvCxnSpPr>
          <p:cNvPr id="281" name="Google Shape;281;p26"/>
          <p:cNvCxnSpPr/>
          <p:nvPr/>
        </p:nvCxnSpPr>
        <p:spPr>
          <a:xfrm flipH="1" rot="10800000">
            <a:off x="1600600" y="1348663"/>
            <a:ext cx="5942700" cy="6600"/>
          </a:xfrm>
          <a:prstGeom prst="straightConnector1">
            <a:avLst/>
          </a:prstGeom>
          <a:noFill/>
          <a:ln cap="flat" cmpd="sng" w="19050">
            <a:solidFill>
              <a:schemeClr val="lt1"/>
            </a:solidFill>
            <a:prstDash val="solid"/>
            <a:round/>
            <a:headEnd len="med" w="med" type="oval"/>
            <a:tailEnd len="med" w="med" type="oval"/>
          </a:ln>
        </p:spPr>
      </p:cxnSp>
      <p:sp>
        <p:nvSpPr>
          <p:cNvPr id="282" name="Google Shape;282;p26"/>
          <p:cNvSpPr/>
          <p:nvPr/>
        </p:nvSpPr>
        <p:spPr>
          <a:xfrm>
            <a:off x="425450" y="13486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6"/>
          <p:cNvSpPr/>
          <p:nvPr/>
        </p:nvSpPr>
        <p:spPr>
          <a:xfrm>
            <a:off x="8492950" y="13486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89" name="Google Shape;289;p27"/>
          <p:cNvSpPr txBox="1"/>
          <p:nvPr/>
        </p:nvSpPr>
        <p:spPr>
          <a:xfrm>
            <a:off x="2410500" y="2828503"/>
            <a:ext cx="4323000" cy="49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3300">
                <a:solidFill>
                  <a:srgbClr val="000000"/>
                </a:solidFill>
                <a:latin typeface="Quicksand"/>
                <a:ea typeface="Quicksand"/>
                <a:cs typeface="Quicksand"/>
                <a:sym typeface="Quicksand"/>
              </a:rPr>
              <a:t>—Kofi Annan</a:t>
            </a:r>
            <a:endParaRPr sz="3300">
              <a:solidFill>
                <a:srgbClr val="000000"/>
              </a:solidFill>
              <a:latin typeface="Quicksand"/>
              <a:ea typeface="Quicksand"/>
              <a:cs typeface="Quicksand"/>
              <a:sym typeface="Quicksand"/>
            </a:endParaRPr>
          </a:p>
          <a:p>
            <a:pPr indent="0" lvl="0" marL="0" rtl="0" algn="ctr">
              <a:lnSpc>
                <a:spcPct val="115000"/>
              </a:lnSpc>
              <a:spcBef>
                <a:spcPts val="0"/>
              </a:spcBef>
              <a:spcAft>
                <a:spcPts val="0"/>
              </a:spcAft>
              <a:buNone/>
            </a:pPr>
            <a:r>
              <a:rPr i="1" lang="en" sz="1700">
                <a:solidFill>
                  <a:srgbClr val="000000"/>
                </a:solidFill>
                <a:latin typeface="Quicksand"/>
                <a:ea typeface="Quicksand"/>
                <a:cs typeface="Quicksand"/>
                <a:sym typeface="Quicksand"/>
              </a:rPr>
              <a:t>Ghanaian diplomat and former Secretary General of the United Nations</a:t>
            </a:r>
            <a:endParaRPr i="1" sz="1700">
              <a:solidFill>
                <a:srgbClr val="000000"/>
              </a:solidFill>
              <a:latin typeface="Quicksand"/>
              <a:ea typeface="Quicksand"/>
              <a:cs typeface="Quicksand"/>
              <a:sym typeface="Quicksand"/>
            </a:endParaRPr>
          </a:p>
        </p:txBody>
      </p:sp>
      <p:sp>
        <p:nvSpPr>
          <p:cNvPr id="290" name="Google Shape;290;p27"/>
          <p:cNvSpPr txBox="1"/>
          <p:nvPr/>
        </p:nvSpPr>
        <p:spPr>
          <a:xfrm>
            <a:off x="1842900" y="1206338"/>
            <a:ext cx="5458200" cy="9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200"/>
              </a:spcAft>
              <a:buNone/>
            </a:pPr>
            <a:r>
              <a:rPr lang="en" sz="2300">
                <a:solidFill>
                  <a:srgbClr val="000000"/>
                </a:solidFill>
                <a:latin typeface="Quicksand"/>
                <a:ea typeface="Quicksand"/>
                <a:cs typeface="Quicksand"/>
                <a:sym typeface="Quicksand"/>
              </a:rPr>
              <a:t>“Knowledge is Power. Information is Liberating. Education is the premise of </a:t>
            </a:r>
            <a:r>
              <a:rPr b="1" lang="en" sz="2300">
                <a:latin typeface="Quicksand"/>
                <a:ea typeface="Quicksand"/>
                <a:cs typeface="Quicksand"/>
                <a:sym typeface="Quicksand"/>
              </a:rPr>
              <a:t>P</a:t>
            </a:r>
            <a:r>
              <a:rPr b="1" lang="en" sz="2300">
                <a:solidFill>
                  <a:srgbClr val="000000"/>
                </a:solidFill>
                <a:latin typeface="Quicksand"/>
                <a:ea typeface="Quicksand"/>
                <a:cs typeface="Quicksand"/>
                <a:sym typeface="Quicksand"/>
              </a:rPr>
              <a:t>rogress</a:t>
            </a:r>
            <a:r>
              <a:rPr lang="en" sz="2300">
                <a:solidFill>
                  <a:srgbClr val="000000"/>
                </a:solidFill>
                <a:latin typeface="Quicksand"/>
                <a:ea typeface="Quicksand"/>
                <a:cs typeface="Quicksand"/>
                <a:sym typeface="Quicksand"/>
              </a:rPr>
              <a:t>, in every society, in every family.”</a:t>
            </a:r>
            <a:endParaRPr sz="2300">
              <a:solidFill>
                <a:srgbClr val="000000"/>
              </a:solidFill>
              <a:latin typeface="Quicksand"/>
              <a:ea typeface="Quicksand"/>
              <a:cs typeface="Quicksand"/>
              <a:sym typeface="Quicksa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8"/>
          <p:cNvSpPr txBox="1"/>
          <p:nvPr>
            <p:ph type="title"/>
          </p:nvPr>
        </p:nvSpPr>
        <p:spPr>
          <a:xfrm>
            <a:off x="3580000" y="948375"/>
            <a:ext cx="3604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Our Question</a:t>
            </a:r>
            <a:endParaRPr sz="4200"/>
          </a:p>
        </p:txBody>
      </p:sp>
      <p:sp>
        <p:nvSpPr>
          <p:cNvPr id="296" name="Google Shape;296;p28"/>
          <p:cNvSpPr txBox="1"/>
          <p:nvPr>
            <p:ph idx="1" type="subTitle"/>
          </p:nvPr>
        </p:nvSpPr>
        <p:spPr>
          <a:xfrm>
            <a:off x="708125" y="2656050"/>
            <a:ext cx="3005100" cy="446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rgbClr val="5F7D95"/>
                </a:solidFill>
                <a:latin typeface="Quicksand"/>
                <a:ea typeface="Quicksand"/>
                <a:cs typeface="Quicksand"/>
                <a:sym typeface="Quicksand"/>
              </a:rPr>
              <a:t>How has the promise of the American Dream changed over time and how can America learn from other countries to improve its social mobility?</a:t>
            </a:r>
            <a:endParaRPr b="1" sz="1700">
              <a:solidFill>
                <a:srgbClr val="5F7D95"/>
              </a:solidFill>
              <a:latin typeface="Quicksand"/>
              <a:ea typeface="Quicksand"/>
              <a:cs typeface="Quicksand"/>
              <a:sym typeface="Quicksand"/>
            </a:endParaRPr>
          </a:p>
        </p:txBody>
      </p:sp>
      <p:sp>
        <p:nvSpPr>
          <p:cNvPr id="297" name="Google Shape;297;p28"/>
          <p:cNvSpPr txBox="1"/>
          <p:nvPr>
            <p:ph idx="2" type="title"/>
          </p:nvPr>
        </p:nvSpPr>
        <p:spPr>
          <a:xfrm>
            <a:off x="1959300" y="948375"/>
            <a:ext cx="1189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98" name="Google Shape;298;p2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299" name="Google Shape;299;p28"/>
          <p:cNvCxnSpPr/>
          <p:nvPr/>
        </p:nvCxnSpPr>
        <p:spPr>
          <a:xfrm flipH="1" rot="10800000">
            <a:off x="1600650" y="2004441"/>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300" name="Google Shape;300;p28"/>
          <p:cNvCxnSpPr/>
          <p:nvPr/>
        </p:nvCxnSpPr>
        <p:spPr>
          <a:xfrm flipH="1" rot="10800000">
            <a:off x="1600650" y="808216"/>
            <a:ext cx="5942700" cy="6600"/>
          </a:xfrm>
          <a:prstGeom prst="straightConnector1">
            <a:avLst/>
          </a:prstGeom>
          <a:noFill/>
          <a:ln cap="flat" cmpd="sng" w="19050">
            <a:solidFill>
              <a:schemeClr val="lt1"/>
            </a:solidFill>
            <a:prstDash val="solid"/>
            <a:round/>
            <a:headEnd len="med" w="med" type="oval"/>
            <a:tailEnd len="med" w="med" type="oval"/>
          </a:ln>
        </p:spPr>
      </p:cxnSp>
      <p:sp>
        <p:nvSpPr>
          <p:cNvPr id="301" name="Google Shape;301;p28"/>
          <p:cNvSpPr/>
          <p:nvPr/>
        </p:nvSpPr>
        <p:spPr>
          <a:xfrm>
            <a:off x="3244850" y="1311838"/>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8"/>
          <p:cNvSpPr/>
          <p:nvPr/>
        </p:nvSpPr>
        <p:spPr>
          <a:xfrm>
            <a:off x="7280550" y="1616638"/>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8"/>
          <p:cNvSpPr txBox="1"/>
          <p:nvPr>
            <p:ph idx="1" type="subTitle"/>
          </p:nvPr>
        </p:nvSpPr>
        <p:spPr>
          <a:xfrm>
            <a:off x="3758525" y="2453927"/>
            <a:ext cx="4830000" cy="21087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5F7D95"/>
              </a:buClr>
              <a:buSzPts val="1400"/>
              <a:buFont typeface="Quicksand"/>
              <a:buChar char="●"/>
            </a:pPr>
            <a:r>
              <a:rPr lang="en">
                <a:solidFill>
                  <a:srgbClr val="5F7D95"/>
                </a:solidFill>
                <a:latin typeface="Quicksand"/>
                <a:ea typeface="Quicksand"/>
                <a:cs typeface="Quicksand"/>
                <a:sym typeface="Quicksand"/>
              </a:rPr>
              <a:t>Testing the accuracy of the current American Dream providing a better life.</a:t>
            </a:r>
            <a:endParaRPr>
              <a:solidFill>
                <a:srgbClr val="5F7D95"/>
              </a:solidFill>
              <a:latin typeface="Quicksand"/>
              <a:ea typeface="Quicksand"/>
              <a:cs typeface="Quicksand"/>
              <a:sym typeface="Quicksand"/>
            </a:endParaRPr>
          </a:p>
          <a:p>
            <a:pPr indent="-317500" lvl="0" marL="457200" rtl="0" algn="l">
              <a:lnSpc>
                <a:spcPct val="115000"/>
              </a:lnSpc>
              <a:spcBef>
                <a:spcPts val="0"/>
              </a:spcBef>
              <a:spcAft>
                <a:spcPts val="0"/>
              </a:spcAft>
              <a:buClr>
                <a:srgbClr val="5F7D95"/>
              </a:buClr>
              <a:buSzPts val="1400"/>
              <a:buFont typeface="Quicksand"/>
              <a:buChar char="●"/>
            </a:pPr>
            <a:r>
              <a:rPr lang="en">
                <a:solidFill>
                  <a:srgbClr val="5F7D95"/>
                </a:solidFill>
                <a:latin typeface="Quicksand"/>
                <a:ea typeface="Quicksand"/>
                <a:cs typeface="Quicksand"/>
                <a:sym typeface="Quicksand"/>
              </a:rPr>
              <a:t>Measuring how minimizing economic inequality can increase social stability and wellbeing, maximize educational opportunities, etc.</a:t>
            </a:r>
            <a:endParaRPr>
              <a:solidFill>
                <a:srgbClr val="5F7D95"/>
              </a:solidFill>
              <a:latin typeface="Quicksand"/>
              <a:ea typeface="Quicksand"/>
              <a:cs typeface="Quicksand"/>
              <a:sym typeface="Quicksand"/>
            </a:endParaRPr>
          </a:p>
          <a:p>
            <a:pPr indent="-317500" lvl="0" marL="457200" rtl="0" algn="l">
              <a:lnSpc>
                <a:spcPct val="115000"/>
              </a:lnSpc>
              <a:spcBef>
                <a:spcPts val="0"/>
              </a:spcBef>
              <a:spcAft>
                <a:spcPts val="0"/>
              </a:spcAft>
              <a:buClr>
                <a:srgbClr val="5F7D95"/>
              </a:buClr>
              <a:buSzPts val="1400"/>
              <a:buFont typeface="Quicksand"/>
              <a:buChar char="●"/>
            </a:pPr>
            <a:r>
              <a:rPr lang="en">
                <a:solidFill>
                  <a:srgbClr val="5F7D95"/>
                </a:solidFill>
                <a:latin typeface="Quicksand"/>
                <a:ea typeface="Quicksand"/>
                <a:cs typeface="Quicksand"/>
                <a:sym typeface="Quicksand"/>
              </a:rPr>
              <a:t>Knowing what contributes to vertical social mobility to guide American policies to restore American Dream &amp; help with key issues.</a:t>
            </a:r>
            <a:endParaRPr>
              <a:solidFill>
                <a:srgbClr val="5F7D95"/>
              </a:solidFill>
              <a:latin typeface="Quicksand"/>
              <a:ea typeface="Quicksand"/>
              <a:cs typeface="Quicksand"/>
              <a:sym typeface="Quicksand"/>
            </a:endParaRPr>
          </a:p>
        </p:txBody>
      </p:sp>
      <p:sp>
        <p:nvSpPr>
          <p:cNvPr id="304" name="Google Shape;304;p28"/>
          <p:cNvSpPr txBox="1"/>
          <p:nvPr>
            <p:ph type="title"/>
          </p:nvPr>
        </p:nvSpPr>
        <p:spPr>
          <a:xfrm>
            <a:off x="4825325" y="2029050"/>
            <a:ext cx="2696400" cy="55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Purpose</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a:t>
            </a:r>
            <a:endParaRPr/>
          </a:p>
        </p:txBody>
      </p:sp>
      <p:sp>
        <p:nvSpPr>
          <p:cNvPr id="310" name="Google Shape;310;p29"/>
          <p:cNvSpPr/>
          <p:nvPr/>
        </p:nvSpPr>
        <p:spPr>
          <a:xfrm>
            <a:off x="2383368" y="3954250"/>
            <a:ext cx="585300" cy="585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p:nvPr/>
        </p:nvSpPr>
        <p:spPr>
          <a:xfrm>
            <a:off x="2414330" y="3035038"/>
            <a:ext cx="585300" cy="585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9"/>
          <p:cNvSpPr/>
          <p:nvPr/>
        </p:nvSpPr>
        <p:spPr>
          <a:xfrm>
            <a:off x="2383368" y="2112699"/>
            <a:ext cx="585300" cy="585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9"/>
          <p:cNvSpPr/>
          <p:nvPr/>
        </p:nvSpPr>
        <p:spPr>
          <a:xfrm>
            <a:off x="2383368" y="1192000"/>
            <a:ext cx="585300" cy="5853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9"/>
          <p:cNvSpPr txBox="1"/>
          <p:nvPr/>
        </p:nvSpPr>
        <p:spPr>
          <a:xfrm>
            <a:off x="5254480" y="1125475"/>
            <a:ext cx="3293100" cy="716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Mulish"/>
                <a:ea typeface="Mulish"/>
                <a:cs typeface="Mulish"/>
                <a:sym typeface="Mulish"/>
              </a:rPr>
              <a:t>Finding datasets from various </a:t>
            </a:r>
            <a:r>
              <a:rPr lang="en" sz="1200">
                <a:solidFill>
                  <a:schemeClr val="dk1"/>
                </a:solidFill>
                <a:latin typeface="Mulish"/>
                <a:ea typeface="Mulish"/>
                <a:cs typeface="Mulish"/>
                <a:sym typeface="Mulish"/>
              </a:rPr>
              <a:t>sources to cast a wide net in seeing what variables affect our response variables. </a:t>
            </a:r>
            <a:endParaRPr sz="1200">
              <a:solidFill>
                <a:schemeClr val="dk1"/>
              </a:solidFill>
              <a:latin typeface="Mulish"/>
              <a:ea typeface="Mulish"/>
              <a:cs typeface="Mulish"/>
              <a:sym typeface="Mulish"/>
            </a:endParaRPr>
          </a:p>
        </p:txBody>
      </p:sp>
      <p:sp>
        <p:nvSpPr>
          <p:cNvPr id="315" name="Google Shape;315;p29"/>
          <p:cNvSpPr txBox="1"/>
          <p:nvPr/>
        </p:nvSpPr>
        <p:spPr>
          <a:xfrm>
            <a:off x="5250578" y="2053892"/>
            <a:ext cx="3293100" cy="706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Mulish"/>
                <a:ea typeface="Mulish"/>
                <a:cs typeface="Mulish"/>
                <a:sym typeface="Mulish"/>
              </a:rPr>
              <a:t>Join together the data and plot variables to visualize correlations, subset for only rows of non-NA observations, apply log transformation to GDPPC</a:t>
            </a:r>
            <a:endParaRPr sz="1200">
              <a:solidFill>
                <a:schemeClr val="dk1"/>
              </a:solidFill>
              <a:latin typeface="Mulish"/>
              <a:ea typeface="Mulish"/>
              <a:cs typeface="Mulish"/>
              <a:sym typeface="Mulish"/>
            </a:endParaRPr>
          </a:p>
        </p:txBody>
      </p:sp>
      <p:sp>
        <p:nvSpPr>
          <p:cNvPr id="316" name="Google Shape;316;p29"/>
          <p:cNvSpPr txBox="1"/>
          <p:nvPr/>
        </p:nvSpPr>
        <p:spPr>
          <a:xfrm>
            <a:off x="5250575" y="3049208"/>
            <a:ext cx="3293100" cy="699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Mulish"/>
                <a:ea typeface="Mulish"/>
                <a:cs typeface="Mulish"/>
                <a:sym typeface="Mulish"/>
              </a:rPr>
              <a:t>Creating LM, LASSO, Relaxed LASSO, Tree, Random Forest, &amp; </a:t>
            </a:r>
            <a:r>
              <a:rPr lang="en" sz="1200">
                <a:solidFill>
                  <a:schemeClr val="dk1"/>
                </a:solidFill>
                <a:latin typeface="Mulish"/>
                <a:ea typeface="Mulish"/>
                <a:cs typeface="Mulish"/>
                <a:sym typeface="Mulish"/>
              </a:rPr>
              <a:t>XGBoost</a:t>
            </a:r>
            <a:r>
              <a:rPr lang="en" sz="1200">
                <a:solidFill>
                  <a:schemeClr val="dk1"/>
                </a:solidFill>
                <a:latin typeface="Mulish"/>
                <a:ea typeface="Mulish"/>
                <a:cs typeface="Mulish"/>
                <a:sym typeface="Mulish"/>
              </a:rPr>
              <a:t> models for Social Mobility Index, Poverty Rate, &amp; GDP Per Capita.</a:t>
            </a:r>
            <a:endParaRPr sz="1200">
              <a:solidFill>
                <a:schemeClr val="dk1"/>
              </a:solidFill>
              <a:latin typeface="Mulish"/>
              <a:ea typeface="Mulish"/>
              <a:cs typeface="Mulish"/>
              <a:sym typeface="Mulish"/>
            </a:endParaRPr>
          </a:p>
        </p:txBody>
      </p:sp>
      <p:sp>
        <p:nvSpPr>
          <p:cNvPr id="317" name="Google Shape;317;p29"/>
          <p:cNvSpPr txBox="1"/>
          <p:nvPr/>
        </p:nvSpPr>
        <p:spPr>
          <a:xfrm>
            <a:off x="5254480" y="3885225"/>
            <a:ext cx="3293100" cy="716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Mulish"/>
                <a:ea typeface="Mulish"/>
                <a:cs typeface="Mulish"/>
                <a:sym typeface="Mulish"/>
              </a:rPr>
              <a:t>Selecting predictive models based on testing error, explainability, and overall model significance.</a:t>
            </a:r>
            <a:endParaRPr sz="1200">
              <a:solidFill>
                <a:schemeClr val="dk1"/>
              </a:solidFill>
              <a:latin typeface="Mulish"/>
              <a:ea typeface="Mulish"/>
              <a:cs typeface="Mulish"/>
              <a:sym typeface="Mulish"/>
            </a:endParaRPr>
          </a:p>
        </p:txBody>
      </p:sp>
      <p:sp>
        <p:nvSpPr>
          <p:cNvPr id="318" name="Google Shape;318;p29"/>
          <p:cNvSpPr txBox="1"/>
          <p:nvPr/>
        </p:nvSpPr>
        <p:spPr>
          <a:xfrm>
            <a:off x="720000" y="2586275"/>
            <a:ext cx="1374900" cy="4782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Quicksand"/>
                <a:ea typeface="Quicksand"/>
                <a:cs typeface="Quicksand"/>
                <a:sym typeface="Quicksand"/>
              </a:rPr>
              <a:t>Analysis</a:t>
            </a:r>
            <a:endParaRPr b="1" sz="2000">
              <a:solidFill>
                <a:schemeClr val="dk2"/>
              </a:solidFill>
              <a:latin typeface="Quicksand"/>
              <a:ea typeface="Quicksand"/>
              <a:cs typeface="Quicksand"/>
              <a:sym typeface="Quicksand"/>
            </a:endParaRPr>
          </a:p>
        </p:txBody>
      </p:sp>
      <p:cxnSp>
        <p:nvCxnSpPr>
          <p:cNvPr id="319" name="Google Shape;319;p29"/>
          <p:cNvCxnSpPr>
            <a:stCxn id="318" idx="0"/>
            <a:endCxn id="313" idx="2"/>
          </p:cNvCxnSpPr>
          <p:nvPr/>
        </p:nvCxnSpPr>
        <p:spPr>
          <a:xfrm rot="-5400000">
            <a:off x="1344600" y="1547525"/>
            <a:ext cx="1101600" cy="975900"/>
          </a:xfrm>
          <a:prstGeom prst="bentConnector2">
            <a:avLst/>
          </a:prstGeom>
          <a:noFill/>
          <a:ln cap="flat" cmpd="sng" w="19050">
            <a:solidFill>
              <a:schemeClr val="lt1"/>
            </a:solidFill>
            <a:prstDash val="solid"/>
            <a:round/>
            <a:headEnd len="med" w="med" type="none"/>
            <a:tailEnd len="med" w="med" type="oval"/>
          </a:ln>
        </p:spPr>
      </p:cxnSp>
      <p:cxnSp>
        <p:nvCxnSpPr>
          <p:cNvPr id="320" name="Google Shape;320;p29"/>
          <p:cNvCxnSpPr>
            <a:stCxn id="318" idx="2"/>
            <a:endCxn id="310" idx="2"/>
          </p:cNvCxnSpPr>
          <p:nvPr/>
        </p:nvCxnSpPr>
        <p:spPr>
          <a:xfrm flipH="1" rot="-5400000">
            <a:off x="1304250" y="3167675"/>
            <a:ext cx="1182300" cy="975900"/>
          </a:xfrm>
          <a:prstGeom prst="bentConnector2">
            <a:avLst/>
          </a:prstGeom>
          <a:noFill/>
          <a:ln cap="flat" cmpd="sng" w="19050">
            <a:solidFill>
              <a:schemeClr val="lt1"/>
            </a:solidFill>
            <a:prstDash val="solid"/>
            <a:round/>
            <a:headEnd len="med" w="med" type="none"/>
            <a:tailEnd len="med" w="med" type="oval"/>
          </a:ln>
        </p:spPr>
      </p:cxnSp>
      <p:cxnSp>
        <p:nvCxnSpPr>
          <p:cNvPr id="321" name="Google Shape;321;p29"/>
          <p:cNvCxnSpPr>
            <a:stCxn id="318" idx="3"/>
            <a:endCxn id="312" idx="2"/>
          </p:cNvCxnSpPr>
          <p:nvPr/>
        </p:nvCxnSpPr>
        <p:spPr>
          <a:xfrm flipH="1" rot="10800000">
            <a:off x="2094900" y="2405375"/>
            <a:ext cx="288600" cy="420000"/>
          </a:xfrm>
          <a:prstGeom prst="bentConnector3">
            <a:avLst>
              <a:gd fmla="val 49977" name="adj1"/>
            </a:avLst>
          </a:prstGeom>
          <a:noFill/>
          <a:ln cap="flat" cmpd="sng" w="19050">
            <a:solidFill>
              <a:schemeClr val="lt1"/>
            </a:solidFill>
            <a:prstDash val="solid"/>
            <a:round/>
            <a:headEnd len="med" w="med" type="none"/>
            <a:tailEnd len="med" w="med" type="oval"/>
          </a:ln>
        </p:spPr>
      </p:cxnSp>
      <p:cxnSp>
        <p:nvCxnSpPr>
          <p:cNvPr id="322" name="Google Shape;322;p29"/>
          <p:cNvCxnSpPr>
            <a:stCxn id="318" idx="3"/>
            <a:endCxn id="311" idx="2"/>
          </p:cNvCxnSpPr>
          <p:nvPr/>
        </p:nvCxnSpPr>
        <p:spPr>
          <a:xfrm>
            <a:off x="2094900" y="2825375"/>
            <a:ext cx="319500" cy="502200"/>
          </a:xfrm>
          <a:prstGeom prst="bentConnector3">
            <a:avLst>
              <a:gd fmla="val 49989" name="adj1"/>
            </a:avLst>
          </a:prstGeom>
          <a:noFill/>
          <a:ln cap="flat" cmpd="sng" w="19050">
            <a:solidFill>
              <a:schemeClr val="lt1"/>
            </a:solidFill>
            <a:prstDash val="solid"/>
            <a:round/>
            <a:headEnd len="med" w="med" type="none"/>
            <a:tailEnd len="med" w="med" type="oval"/>
          </a:ln>
        </p:spPr>
      </p:cxnSp>
      <p:sp>
        <p:nvSpPr>
          <p:cNvPr id="323" name="Google Shape;323;p29"/>
          <p:cNvSpPr txBox="1"/>
          <p:nvPr/>
        </p:nvSpPr>
        <p:spPr>
          <a:xfrm>
            <a:off x="3030624" y="1204075"/>
            <a:ext cx="1946100" cy="558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Quicksand"/>
                <a:ea typeface="Quicksand"/>
                <a:cs typeface="Quicksand"/>
                <a:sym typeface="Quicksand"/>
              </a:rPr>
              <a:t>Selecting Data</a:t>
            </a:r>
            <a:endParaRPr b="1" sz="1800">
              <a:solidFill>
                <a:schemeClr val="dk2"/>
              </a:solidFill>
              <a:latin typeface="Quicksand"/>
              <a:ea typeface="Quicksand"/>
              <a:cs typeface="Quicksand"/>
              <a:sym typeface="Quicksand"/>
            </a:endParaRPr>
          </a:p>
        </p:txBody>
      </p:sp>
      <p:sp>
        <p:nvSpPr>
          <p:cNvPr id="324" name="Google Shape;324;p29"/>
          <p:cNvSpPr txBox="1"/>
          <p:nvPr/>
        </p:nvSpPr>
        <p:spPr>
          <a:xfrm>
            <a:off x="3030624" y="2127842"/>
            <a:ext cx="1946100" cy="558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Quicksand"/>
                <a:ea typeface="Quicksand"/>
                <a:cs typeface="Quicksand"/>
                <a:sym typeface="Quicksand"/>
              </a:rPr>
              <a:t>EDA &amp; Cleaning</a:t>
            </a:r>
            <a:endParaRPr b="1" sz="1800">
              <a:solidFill>
                <a:schemeClr val="dk2"/>
              </a:solidFill>
              <a:latin typeface="Quicksand"/>
              <a:ea typeface="Quicksand"/>
              <a:cs typeface="Quicksand"/>
              <a:sym typeface="Quicksand"/>
            </a:endParaRPr>
          </a:p>
        </p:txBody>
      </p:sp>
      <p:sp>
        <p:nvSpPr>
          <p:cNvPr id="325" name="Google Shape;325;p29"/>
          <p:cNvSpPr txBox="1"/>
          <p:nvPr/>
        </p:nvSpPr>
        <p:spPr>
          <a:xfrm>
            <a:off x="3030624" y="3043508"/>
            <a:ext cx="1946100" cy="558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Quicksand"/>
                <a:ea typeface="Quicksand"/>
                <a:cs typeface="Quicksand"/>
                <a:sym typeface="Quicksand"/>
              </a:rPr>
              <a:t>Model Creation</a:t>
            </a:r>
            <a:endParaRPr b="1" sz="1800">
              <a:solidFill>
                <a:schemeClr val="dk2"/>
              </a:solidFill>
              <a:latin typeface="Quicksand"/>
              <a:ea typeface="Quicksand"/>
              <a:cs typeface="Quicksand"/>
              <a:sym typeface="Quicksand"/>
            </a:endParaRPr>
          </a:p>
        </p:txBody>
      </p:sp>
      <p:sp>
        <p:nvSpPr>
          <p:cNvPr id="326" name="Google Shape;326;p29"/>
          <p:cNvSpPr txBox="1"/>
          <p:nvPr/>
        </p:nvSpPr>
        <p:spPr>
          <a:xfrm>
            <a:off x="3030624" y="4042425"/>
            <a:ext cx="1946100" cy="558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Quicksand"/>
                <a:ea typeface="Quicksand"/>
                <a:cs typeface="Quicksand"/>
                <a:sym typeface="Quicksand"/>
              </a:rPr>
              <a:t>Model Selection &amp; Prediction</a:t>
            </a:r>
            <a:endParaRPr b="1" sz="1800">
              <a:solidFill>
                <a:schemeClr val="dk2"/>
              </a:solidFill>
              <a:latin typeface="Quicksand"/>
              <a:ea typeface="Quicksand"/>
              <a:cs typeface="Quicksand"/>
              <a:sym typeface="Quicksand"/>
            </a:endParaRPr>
          </a:p>
        </p:txBody>
      </p:sp>
      <p:sp>
        <p:nvSpPr>
          <p:cNvPr id="327" name="Google Shape;327;p2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328" name="Google Shape;328;p29"/>
          <p:cNvCxnSpPr>
            <a:stCxn id="323" idx="3"/>
            <a:endCxn id="314" idx="1"/>
          </p:cNvCxnSpPr>
          <p:nvPr/>
        </p:nvCxnSpPr>
        <p:spPr>
          <a:xfrm>
            <a:off x="4976724" y="1483525"/>
            <a:ext cx="277800" cy="600"/>
          </a:xfrm>
          <a:prstGeom prst="bentConnector3">
            <a:avLst>
              <a:gd fmla="val 49992" name="adj1"/>
            </a:avLst>
          </a:prstGeom>
          <a:noFill/>
          <a:ln cap="flat" cmpd="sng" w="19050">
            <a:solidFill>
              <a:schemeClr val="lt1"/>
            </a:solidFill>
            <a:prstDash val="solid"/>
            <a:round/>
            <a:headEnd len="med" w="med" type="none"/>
            <a:tailEnd len="med" w="med" type="oval"/>
          </a:ln>
        </p:spPr>
      </p:cxnSp>
      <p:cxnSp>
        <p:nvCxnSpPr>
          <p:cNvPr id="329" name="Google Shape;329;p29"/>
          <p:cNvCxnSpPr>
            <a:stCxn id="324" idx="3"/>
            <a:endCxn id="315" idx="1"/>
          </p:cNvCxnSpPr>
          <p:nvPr/>
        </p:nvCxnSpPr>
        <p:spPr>
          <a:xfrm>
            <a:off x="4976724" y="2407292"/>
            <a:ext cx="273900" cy="600"/>
          </a:xfrm>
          <a:prstGeom prst="bentConnector3">
            <a:avLst>
              <a:gd fmla="val 49992" name="adj1"/>
            </a:avLst>
          </a:prstGeom>
          <a:noFill/>
          <a:ln cap="flat" cmpd="sng" w="19050">
            <a:solidFill>
              <a:schemeClr val="lt1"/>
            </a:solidFill>
            <a:prstDash val="solid"/>
            <a:round/>
            <a:headEnd len="med" w="med" type="none"/>
            <a:tailEnd len="med" w="med" type="oval"/>
          </a:ln>
        </p:spPr>
      </p:cxnSp>
      <p:cxnSp>
        <p:nvCxnSpPr>
          <p:cNvPr id="330" name="Google Shape;330;p29"/>
          <p:cNvCxnSpPr>
            <a:stCxn id="325" idx="3"/>
            <a:endCxn id="316" idx="1"/>
          </p:cNvCxnSpPr>
          <p:nvPr/>
        </p:nvCxnSpPr>
        <p:spPr>
          <a:xfrm>
            <a:off x="4976724" y="3322958"/>
            <a:ext cx="273900" cy="76200"/>
          </a:xfrm>
          <a:prstGeom prst="bentConnector3">
            <a:avLst>
              <a:gd fmla="val 49991" name="adj1"/>
            </a:avLst>
          </a:prstGeom>
          <a:noFill/>
          <a:ln cap="flat" cmpd="sng" w="19050">
            <a:solidFill>
              <a:schemeClr val="lt1"/>
            </a:solidFill>
            <a:prstDash val="solid"/>
            <a:round/>
            <a:headEnd len="med" w="med" type="none"/>
            <a:tailEnd len="med" w="med" type="oval"/>
          </a:ln>
        </p:spPr>
      </p:cxnSp>
      <p:cxnSp>
        <p:nvCxnSpPr>
          <p:cNvPr id="331" name="Google Shape;331;p29"/>
          <p:cNvCxnSpPr>
            <a:stCxn id="326" idx="3"/>
            <a:endCxn id="317" idx="1"/>
          </p:cNvCxnSpPr>
          <p:nvPr/>
        </p:nvCxnSpPr>
        <p:spPr>
          <a:xfrm flipH="1" rot="10800000">
            <a:off x="4976724" y="4243275"/>
            <a:ext cx="277800" cy="78600"/>
          </a:xfrm>
          <a:prstGeom prst="bentConnector3">
            <a:avLst>
              <a:gd fmla="val 49992" name="adj1"/>
            </a:avLst>
          </a:prstGeom>
          <a:noFill/>
          <a:ln cap="flat" cmpd="sng" w="19050">
            <a:solidFill>
              <a:schemeClr val="lt1"/>
            </a:solidFill>
            <a:prstDash val="solid"/>
            <a:round/>
            <a:headEnd len="med" w="med" type="none"/>
            <a:tailEnd len="med" w="med" type="oval"/>
          </a:ln>
        </p:spPr>
      </p:cxnSp>
      <p:grpSp>
        <p:nvGrpSpPr>
          <p:cNvPr id="332" name="Google Shape;332;p29"/>
          <p:cNvGrpSpPr/>
          <p:nvPr/>
        </p:nvGrpSpPr>
        <p:grpSpPr>
          <a:xfrm>
            <a:off x="2499448" y="4070891"/>
            <a:ext cx="353145" cy="351998"/>
            <a:chOff x="852385" y="1510916"/>
            <a:chExt cx="353145" cy="351998"/>
          </a:xfrm>
        </p:grpSpPr>
        <p:sp>
          <p:nvSpPr>
            <p:cNvPr id="333" name="Google Shape;333;p29"/>
            <p:cNvSpPr/>
            <p:nvPr/>
          </p:nvSpPr>
          <p:spPr>
            <a:xfrm>
              <a:off x="852385" y="1510916"/>
              <a:ext cx="353145" cy="187785"/>
            </a:xfrm>
            <a:custGeom>
              <a:rect b="b" l="l" r="r" t="t"/>
              <a:pathLst>
                <a:path extrusionOk="0" h="5895" w="11086">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9"/>
            <p:cNvSpPr/>
            <p:nvPr/>
          </p:nvSpPr>
          <p:spPr>
            <a:xfrm>
              <a:off x="852385" y="1609921"/>
              <a:ext cx="353145" cy="252992"/>
            </a:xfrm>
            <a:custGeom>
              <a:rect b="b" l="l" r="r" t="t"/>
              <a:pathLst>
                <a:path extrusionOk="0" h="7942" w="11086">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9"/>
            <p:cNvSpPr/>
            <p:nvPr/>
          </p:nvSpPr>
          <p:spPr>
            <a:xfrm>
              <a:off x="928264" y="1584501"/>
              <a:ext cx="198775" cy="140735"/>
            </a:xfrm>
            <a:custGeom>
              <a:rect b="b" l="l" r="r" t="t"/>
              <a:pathLst>
                <a:path extrusionOk="0" h="4418" w="624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 name="Google Shape;336;p29"/>
          <p:cNvGrpSpPr/>
          <p:nvPr/>
        </p:nvGrpSpPr>
        <p:grpSpPr>
          <a:xfrm>
            <a:off x="2467711" y="1320731"/>
            <a:ext cx="416649" cy="325597"/>
            <a:chOff x="5626763" y="2013829"/>
            <a:chExt cx="351722" cy="274788"/>
          </a:xfrm>
        </p:grpSpPr>
        <p:sp>
          <p:nvSpPr>
            <p:cNvPr id="337" name="Google Shape;337;p29"/>
            <p:cNvSpPr/>
            <p:nvPr/>
          </p:nvSpPr>
          <p:spPr>
            <a:xfrm>
              <a:off x="5626763" y="2013829"/>
              <a:ext cx="351722" cy="274788"/>
            </a:xfrm>
            <a:custGeom>
              <a:rect b="b" l="l" r="r" t="t"/>
              <a:pathLst>
                <a:path extrusionOk="0" h="8633" w="11050">
                  <a:moveTo>
                    <a:pt x="10657" y="345"/>
                  </a:moveTo>
                  <a:lnTo>
                    <a:pt x="10681" y="714"/>
                  </a:lnTo>
                  <a:lnTo>
                    <a:pt x="9395" y="714"/>
                  </a:lnTo>
                  <a:cubicBezTo>
                    <a:pt x="9312" y="714"/>
                    <a:pt x="9216" y="786"/>
                    <a:pt x="9216" y="893"/>
                  </a:cubicBezTo>
                  <a:cubicBezTo>
                    <a:pt x="9216" y="1000"/>
                    <a:pt x="9288" y="1072"/>
                    <a:pt x="9395" y="1072"/>
                  </a:cubicBezTo>
                  <a:lnTo>
                    <a:pt x="10383" y="1072"/>
                  </a:lnTo>
                  <a:lnTo>
                    <a:pt x="10383" y="6191"/>
                  </a:lnTo>
                  <a:lnTo>
                    <a:pt x="4466" y="6191"/>
                  </a:lnTo>
                  <a:lnTo>
                    <a:pt x="4466" y="6025"/>
                  </a:lnTo>
                  <a:cubicBezTo>
                    <a:pt x="4466" y="5929"/>
                    <a:pt x="4394" y="5846"/>
                    <a:pt x="4287" y="5846"/>
                  </a:cubicBezTo>
                  <a:lnTo>
                    <a:pt x="4001" y="5846"/>
                  </a:lnTo>
                  <a:cubicBezTo>
                    <a:pt x="3978" y="5739"/>
                    <a:pt x="3930" y="5644"/>
                    <a:pt x="3871" y="5536"/>
                  </a:cubicBezTo>
                  <a:lnTo>
                    <a:pt x="4085" y="5322"/>
                  </a:lnTo>
                  <a:cubicBezTo>
                    <a:pt x="4156" y="5251"/>
                    <a:pt x="4156" y="5144"/>
                    <a:pt x="4085" y="5072"/>
                  </a:cubicBezTo>
                  <a:lnTo>
                    <a:pt x="3549" y="4536"/>
                  </a:lnTo>
                  <a:cubicBezTo>
                    <a:pt x="3513" y="4512"/>
                    <a:pt x="3478" y="4489"/>
                    <a:pt x="3430" y="4489"/>
                  </a:cubicBezTo>
                  <a:cubicBezTo>
                    <a:pt x="3382" y="4489"/>
                    <a:pt x="3335" y="4512"/>
                    <a:pt x="3311" y="4536"/>
                  </a:cubicBezTo>
                  <a:lnTo>
                    <a:pt x="3097" y="4739"/>
                  </a:lnTo>
                  <a:cubicBezTo>
                    <a:pt x="2989" y="4679"/>
                    <a:pt x="2894" y="4643"/>
                    <a:pt x="2787" y="4608"/>
                  </a:cubicBezTo>
                  <a:lnTo>
                    <a:pt x="2787" y="4334"/>
                  </a:lnTo>
                  <a:cubicBezTo>
                    <a:pt x="2787" y="4239"/>
                    <a:pt x="2716" y="4155"/>
                    <a:pt x="2608" y="4155"/>
                  </a:cubicBezTo>
                  <a:lnTo>
                    <a:pt x="2180" y="4155"/>
                  </a:lnTo>
                  <a:lnTo>
                    <a:pt x="2180" y="1060"/>
                  </a:lnTo>
                  <a:lnTo>
                    <a:pt x="8788" y="1060"/>
                  </a:lnTo>
                  <a:cubicBezTo>
                    <a:pt x="8871" y="1060"/>
                    <a:pt x="8966" y="976"/>
                    <a:pt x="8966" y="881"/>
                  </a:cubicBezTo>
                  <a:cubicBezTo>
                    <a:pt x="8966" y="786"/>
                    <a:pt x="8895" y="702"/>
                    <a:pt x="8788" y="702"/>
                  </a:cubicBezTo>
                  <a:lnTo>
                    <a:pt x="1894" y="702"/>
                  </a:lnTo>
                  <a:lnTo>
                    <a:pt x="1894" y="345"/>
                  </a:lnTo>
                  <a:close/>
                  <a:moveTo>
                    <a:pt x="10681" y="6537"/>
                  </a:moveTo>
                  <a:lnTo>
                    <a:pt x="10681" y="6870"/>
                  </a:lnTo>
                  <a:lnTo>
                    <a:pt x="4430" y="6870"/>
                  </a:lnTo>
                  <a:cubicBezTo>
                    <a:pt x="4454" y="6846"/>
                    <a:pt x="4466" y="6798"/>
                    <a:pt x="4466" y="6751"/>
                  </a:cubicBezTo>
                  <a:lnTo>
                    <a:pt x="4466" y="6560"/>
                  </a:lnTo>
                  <a:lnTo>
                    <a:pt x="10562" y="6560"/>
                  </a:lnTo>
                  <a:cubicBezTo>
                    <a:pt x="10598" y="6560"/>
                    <a:pt x="10633" y="6548"/>
                    <a:pt x="10657" y="6537"/>
                  </a:cubicBezTo>
                  <a:close/>
                  <a:moveTo>
                    <a:pt x="2477" y="4524"/>
                  </a:moveTo>
                  <a:lnTo>
                    <a:pt x="2477" y="4763"/>
                  </a:lnTo>
                  <a:cubicBezTo>
                    <a:pt x="2477" y="4834"/>
                    <a:pt x="2537" y="4905"/>
                    <a:pt x="2608" y="4929"/>
                  </a:cubicBezTo>
                  <a:cubicBezTo>
                    <a:pt x="2775" y="4965"/>
                    <a:pt x="2942" y="5024"/>
                    <a:pt x="3073" y="5120"/>
                  </a:cubicBezTo>
                  <a:cubicBezTo>
                    <a:pt x="3099" y="5137"/>
                    <a:pt x="3128" y="5145"/>
                    <a:pt x="3157" y="5145"/>
                  </a:cubicBezTo>
                  <a:cubicBezTo>
                    <a:pt x="3206" y="5145"/>
                    <a:pt x="3253" y="5122"/>
                    <a:pt x="3275" y="5084"/>
                  </a:cubicBezTo>
                  <a:lnTo>
                    <a:pt x="3454" y="4905"/>
                  </a:lnTo>
                  <a:lnTo>
                    <a:pt x="3740" y="5191"/>
                  </a:lnTo>
                  <a:lnTo>
                    <a:pt x="3561" y="5370"/>
                  </a:lnTo>
                  <a:cubicBezTo>
                    <a:pt x="3501" y="5429"/>
                    <a:pt x="3490" y="5525"/>
                    <a:pt x="3537" y="5584"/>
                  </a:cubicBezTo>
                  <a:cubicBezTo>
                    <a:pt x="3620" y="5727"/>
                    <a:pt x="3680" y="5882"/>
                    <a:pt x="3728" y="6036"/>
                  </a:cubicBezTo>
                  <a:cubicBezTo>
                    <a:pt x="3740" y="6120"/>
                    <a:pt x="3811" y="6179"/>
                    <a:pt x="3894" y="6179"/>
                  </a:cubicBezTo>
                  <a:lnTo>
                    <a:pt x="4132" y="6179"/>
                  </a:lnTo>
                  <a:lnTo>
                    <a:pt x="4132" y="6572"/>
                  </a:lnTo>
                  <a:lnTo>
                    <a:pt x="3894" y="6572"/>
                  </a:lnTo>
                  <a:cubicBezTo>
                    <a:pt x="3811" y="6572"/>
                    <a:pt x="3740" y="6632"/>
                    <a:pt x="3728" y="6715"/>
                  </a:cubicBezTo>
                  <a:cubicBezTo>
                    <a:pt x="3680" y="6870"/>
                    <a:pt x="3620" y="7037"/>
                    <a:pt x="3537" y="7168"/>
                  </a:cubicBezTo>
                  <a:cubicBezTo>
                    <a:pt x="3490" y="7251"/>
                    <a:pt x="3501" y="7334"/>
                    <a:pt x="3561" y="7382"/>
                  </a:cubicBezTo>
                  <a:lnTo>
                    <a:pt x="3740" y="7560"/>
                  </a:lnTo>
                  <a:lnTo>
                    <a:pt x="3454" y="7834"/>
                  </a:lnTo>
                  <a:lnTo>
                    <a:pt x="3275" y="7656"/>
                  </a:lnTo>
                  <a:cubicBezTo>
                    <a:pt x="3238" y="7626"/>
                    <a:pt x="3193" y="7606"/>
                    <a:pt x="3149" y="7606"/>
                  </a:cubicBezTo>
                  <a:cubicBezTo>
                    <a:pt x="3122" y="7606"/>
                    <a:pt x="3096" y="7614"/>
                    <a:pt x="3073" y="7632"/>
                  </a:cubicBezTo>
                  <a:cubicBezTo>
                    <a:pt x="2918" y="7727"/>
                    <a:pt x="2775" y="7787"/>
                    <a:pt x="2608" y="7822"/>
                  </a:cubicBezTo>
                  <a:cubicBezTo>
                    <a:pt x="2537" y="7846"/>
                    <a:pt x="2477" y="7918"/>
                    <a:pt x="2477" y="7989"/>
                  </a:cubicBezTo>
                  <a:lnTo>
                    <a:pt x="2477" y="8227"/>
                  </a:lnTo>
                  <a:lnTo>
                    <a:pt x="2073" y="8227"/>
                  </a:lnTo>
                  <a:lnTo>
                    <a:pt x="2073" y="7989"/>
                  </a:lnTo>
                  <a:cubicBezTo>
                    <a:pt x="2073" y="7918"/>
                    <a:pt x="2013" y="7846"/>
                    <a:pt x="1942" y="7822"/>
                  </a:cubicBezTo>
                  <a:cubicBezTo>
                    <a:pt x="1775" y="7787"/>
                    <a:pt x="1608" y="7727"/>
                    <a:pt x="1477" y="7632"/>
                  </a:cubicBezTo>
                  <a:cubicBezTo>
                    <a:pt x="1450" y="7614"/>
                    <a:pt x="1419" y="7606"/>
                    <a:pt x="1390" y="7606"/>
                  </a:cubicBezTo>
                  <a:cubicBezTo>
                    <a:pt x="1342" y="7606"/>
                    <a:pt x="1297" y="7626"/>
                    <a:pt x="1275" y="7656"/>
                  </a:cubicBezTo>
                  <a:lnTo>
                    <a:pt x="1096" y="7834"/>
                  </a:lnTo>
                  <a:lnTo>
                    <a:pt x="811" y="7560"/>
                  </a:lnTo>
                  <a:lnTo>
                    <a:pt x="989" y="7382"/>
                  </a:lnTo>
                  <a:cubicBezTo>
                    <a:pt x="1049" y="7322"/>
                    <a:pt x="1061" y="7227"/>
                    <a:pt x="1013" y="7168"/>
                  </a:cubicBezTo>
                  <a:cubicBezTo>
                    <a:pt x="930" y="7025"/>
                    <a:pt x="870" y="6870"/>
                    <a:pt x="823" y="6715"/>
                  </a:cubicBezTo>
                  <a:cubicBezTo>
                    <a:pt x="811" y="6632"/>
                    <a:pt x="739" y="6572"/>
                    <a:pt x="656" y="6572"/>
                  </a:cubicBezTo>
                  <a:lnTo>
                    <a:pt x="418" y="6572"/>
                  </a:lnTo>
                  <a:lnTo>
                    <a:pt x="418" y="6179"/>
                  </a:lnTo>
                  <a:lnTo>
                    <a:pt x="656" y="6179"/>
                  </a:lnTo>
                  <a:cubicBezTo>
                    <a:pt x="739" y="6179"/>
                    <a:pt x="811" y="6120"/>
                    <a:pt x="823" y="6036"/>
                  </a:cubicBezTo>
                  <a:cubicBezTo>
                    <a:pt x="870" y="5882"/>
                    <a:pt x="930" y="5715"/>
                    <a:pt x="1013" y="5584"/>
                  </a:cubicBezTo>
                  <a:cubicBezTo>
                    <a:pt x="1061" y="5501"/>
                    <a:pt x="1049" y="5417"/>
                    <a:pt x="989" y="5370"/>
                  </a:cubicBezTo>
                  <a:lnTo>
                    <a:pt x="811" y="5191"/>
                  </a:lnTo>
                  <a:lnTo>
                    <a:pt x="1096" y="4905"/>
                  </a:lnTo>
                  <a:lnTo>
                    <a:pt x="1275" y="5084"/>
                  </a:lnTo>
                  <a:cubicBezTo>
                    <a:pt x="1313" y="5122"/>
                    <a:pt x="1360" y="5145"/>
                    <a:pt x="1405" y="5145"/>
                  </a:cubicBezTo>
                  <a:cubicBezTo>
                    <a:pt x="1430" y="5145"/>
                    <a:pt x="1456" y="5137"/>
                    <a:pt x="1477" y="5120"/>
                  </a:cubicBezTo>
                  <a:cubicBezTo>
                    <a:pt x="1632" y="5024"/>
                    <a:pt x="1775" y="4965"/>
                    <a:pt x="1942" y="4929"/>
                  </a:cubicBezTo>
                  <a:cubicBezTo>
                    <a:pt x="2013" y="4905"/>
                    <a:pt x="2073" y="4834"/>
                    <a:pt x="2073" y="4763"/>
                  </a:cubicBezTo>
                  <a:lnTo>
                    <a:pt x="2073" y="4524"/>
                  </a:lnTo>
                  <a:close/>
                  <a:moveTo>
                    <a:pt x="1715" y="0"/>
                  </a:moveTo>
                  <a:cubicBezTo>
                    <a:pt x="1632" y="0"/>
                    <a:pt x="1537" y="71"/>
                    <a:pt x="1537" y="179"/>
                  </a:cubicBezTo>
                  <a:lnTo>
                    <a:pt x="1537" y="881"/>
                  </a:lnTo>
                  <a:cubicBezTo>
                    <a:pt x="1537" y="964"/>
                    <a:pt x="1608" y="1060"/>
                    <a:pt x="1715" y="1060"/>
                  </a:cubicBezTo>
                  <a:lnTo>
                    <a:pt x="1835" y="1060"/>
                  </a:lnTo>
                  <a:lnTo>
                    <a:pt x="1835" y="4155"/>
                  </a:lnTo>
                  <a:cubicBezTo>
                    <a:pt x="1751" y="4167"/>
                    <a:pt x="1692" y="4239"/>
                    <a:pt x="1692" y="4310"/>
                  </a:cubicBezTo>
                  <a:lnTo>
                    <a:pt x="1692" y="4596"/>
                  </a:lnTo>
                  <a:cubicBezTo>
                    <a:pt x="1585" y="4632"/>
                    <a:pt x="1477" y="4667"/>
                    <a:pt x="1370" y="4727"/>
                  </a:cubicBezTo>
                  <a:lnTo>
                    <a:pt x="1168" y="4524"/>
                  </a:lnTo>
                  <a:cubicBezTo>
                    <a:pt x="1132" y="4489"/>
                    <a:pt x="1096" y="4477"/>
                    <a:pt x="1049" y="4477"/>
                  </a:cubicBezTo>
                  <a:cubicBezTo>
                    <a:pt x="1001" y="4477"/>
                    <a:pt x="953" y="4489"/>
                    <a:pt x="930" y="4524"/>
                  </a:cubicBezTo>
                  <a:lnTo>
                    <a:pt x="394" y="5060"/>
                  </a:lnTo>
                  <a:cubicBezTo>
                    <a:pt x="322" y="5132"/>
                    <a:pt x="322" y="5239"/>
                    <a:pt x="394" y="5310"/>
                  </a:cubicBezTo>
                  <a:lnTo>
                    <a:pt x="596" y="5525"/>
                  </a:lnTo>
                  <a:cubicBezTo>
                    <a:pt x="537" y="5620"/>
                    <a:pt x="501" y="5727"/>
                    <a:pt x="465" y="5834"/>
                  </a:cubicBezTo>
                  <a:lnTo>
                    <a:pt x="180" y="5834"/>
                  </a:lnTo>
                  <a:cubicBezTo>
                    <a:pt x="96" y="5834"/>
                    <a:pt x="1" y="5906"/>
                    <a:pt x="1" y="6013"/>
                  </a:cubicBezTo>
                  <a:lnTo>
                    <a:pt x="1" y="6751"/>
                  </a:lnTo>
                  <a:cubicBezTo>
                    <a:pt x="1" y="6846"/>
                    <a:pt x="84" y="6929"/>
                    <a:pt x="180" y="6929"/>
                  </a:cubicBezTo>
                  <a:lnTo>
                    <a:pt x="465" y="6929"/>
                  </a:lnTo>
                  <a:cubicBezTo>
                    <a:pt x="501" y="7037"/>
                    <a:pt x="537" y="7144"/>
                    <a:pt x="596" y="7251"/>
                  </a:cubicBezTo>
                  <a:lnTo>
                    <a:pt x="394" y="7453"/>
                  </a:lnTo>
                  <a:cubicBezTo>
                    <a:pt x="322" y="7525"/>
                    <a:pt x="322" y="7632"/>
                    <a:pt x="394" y="7703"/>
                  </a:cubicBezTo>
                  <a:lnTo>
                    <a:pt x="930" y="8239"/>
                  </a:lnTo>
                  <a:cubicBezTo>
                    <a:pt x="965" y="8281"/>
                    <a:pt x="1010" y="8302"/>
                    <a:pt x="1055" y="8302"/>
                  </a:cubicBezTo>
                  <a:cubicBezTo>
                    <a:pt x="1099" y="8302"/>
                    <a:pt x="1144" y="8281"/>
                    <a:pt x="1180" y="8239"/>
                  </a:cubicBezTo>
                  <a:lnTo>
                    <a:pt x="1394" y="8037"/>
                  </a:lnTo>
                  <a:cubicBezTo>
                    <a:pt x="1489" y="8096"/>
                    <a:pt x="1596" y="8144"/>
                    <a:pt x="1704" y="8168"/>
                  </a:cubicBezTo>
                  <a:lnTo>
                    <a:pt x="1704" y="8453"/>
                  </a:lnTo>
                  <a:cubicBezTo>
                    <a:pt x="1704" y="8537"/>
                    <a:pt x="1775" y="8632"/>
                    <a:pt x="1882" y="8632"/>
                  </a:cubicBezTo>
                  <a:lnTo>
                    <a:pt x="2620" y="8632"/>
                  </a:lnTo>
                  <a:cubicBezTo>
                    <a:pt x="2716" y="8632"/>
                    <a:pt x="2799" y="8549"/>
                    <a:pt x="2799" y="8453"/>
                  </a:cubicBezTo>
                  <a:lnTo>
                    <a:pt x="2799" y="8168"/>
                  </a:lnTo>
                  <a:cubicBezTo>
                    <a:pt x="2906" y="8144"/>
                    <a:pt x="3013" y="8096"/>
                    <a:pt x="3120" y="8037"/>
                  </a:cubicBezTo>
                  <a:lnTo>
                    <a:pt x="3323" y="8239"/>
                  </a:lnTo>
                  <a:cubicBezTo>
                    <a:pt x="3359" y="8281"/>
                    <a:pt x="3403" y="8302"/>
                    <a:pt x="3448" y="8302"/>
                  </a:cubicBezTo>
                  <a:cubicBezTo>
                    <a:pt x="3492" y="8302"/>
                    <a:pt x="3537" y="8281"/>
                    <a:pt x="3573" y="8239"/>
                  </a:cubicBezTo>
                  <a:lnTo>
                    <a:pt x="4109" y="7703"/>
                  </a:lnTo>
                  <a:cubicBezTo>
                    <a:pt x="4192" y="7632"/>
                    <a:pt x="4192" y="7525"/>
                    <a:pt x="4109" y="7453"/>
                  </a:cubicBezTo>
                  <a:lnTo>
                    <a:pt x="3906" y="7251"/>
                  </a:lnTo>
                  <a:cubicBezTo>
                    <a:pt x="3906" y="7227"/>
                    <a:pt x="3918" y="7227"/>
                    <a:pt x="3918" y="7215"/>
                  </a:cubicBezTo>
                  <a:lnTo>
                    <a:pt x="10871" y="7215"/>
                  </a:lnTo>
                  <a:cubicBezTo>
                    <a:pt x="10955" y="7215"/>
                    <a:pt x="11050" y="7144"/>
                    <a:pt x="11050" y="7037"/>
                  </a:cubicBezTo>
                  <a:lnTo>
                    <a:pt x="11050" y="6358"/>
                  </a:lnTo>
                  <a:cubicBezTo>
                    <a:pt x="11050" y="6263"/>
                    <a:pt x="10979" y="6179"/>
                    <a:pt x="10871" y="6179"/>
                  </a:cubicBezTo>
                  <a:lnTo>
                    <a:pt x="10752" y="6179"/>
                  </a:lnTo>
                  <a:lnTo>
                    <a:pt x="10752" y="1060"/>
                  </a:lnTo>
                  <a:lnTo>
                    <a:pt x="10836" y="1060"/>
                  </a:lnTo>
                  <a:cubicBezTo>
                    <a:pt x="10931" y="1060"/>
                    <a:pt x="11014" y="976"/>
                    <a:pt x="11014" y="881"/>
                  </a:cubicBezTo>
                  <a:lnTo>
                    <a:pt x="11014" y="179"/>
                  </a:lnTo>
                  <a:cubicBezTo>
                    <a:pt x="11014" y="83"/>
                    <a:pt x="10943" y="0"/>
                    <a:pt x="10836"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9"/>
            <p:cNvSpPr/>
            <p:nvPr/>
          </p:nvSpPr>
          <p:spPr>
            <a:xfrm>
              <a:off x="5784799" y="2125234"/>
              <a:ext cx="33390" cy="70503"/>
            </a:xfrm>
            <a:custGeom>
              <a:rect b="b" l="l" r="r" t="t"/>
              <a:pathLst>
                <a:path extrusionOk="0" h="2215" w="1049">
                  <a:moveTo>
                    <a:pt x="691" y="334"/>
                  </a:moveTo>
                  <a:lnTo>
                    <a:pt x="691" y="1858"/>
                  </a:lnTo>
                  <a:lnTo>
                    <a:pt x="334" y="1858"/>
                  </a:lnTo>
                  <a:lnTo>
                    <a:pt x="334" y="334"/>
                  </a:lnTo>
                  <a:close/>
                  <a:moveTo>
                    <a:pt x="179" y="0"/>
                  </a:moveTo>
                  <a:cubicBezTo>
                    <a:pt x="84" y="0"/>
                    <a:pt x="1" y="72"/>
                    <a:pt x="1" y="179"/>
                  </a:cubicBezTo>
                  <a:lnTo>
                    <a:pt x="1" y="2036"/>
                  </a:lnTo>
                  <a:cubicBezTo>
                    <a:pt x="1" y="2120"/>
                    <a:pt x="72" y="2215"/>
                    <a:pt x="179" y="2215"/>
                  </a:cubicBezTo>
                  <a:lnTo>
                    <a:pt x="870" y="2215"/>
                  </a:lnTo>
                  <a:cubicBezTo>
                    <a:pt x="965" y="2215"/>
                    <a:pt x="1049" y="2144"/>
                    <a:pt x="1049" y="2036"/>
                  </a:cubicBezTo>
                  <a:lnTo>
                    <a:pt x="1049" y="179"/>
                  </a:lnTo>
                  <a:cubicBezTo>
                    <a:pt x="1049" y="72"/>
                    <a:pt x="965" y="0"/>
                    <a:pt x="870"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9"/>
            <p:cNvSpPr/>
            <p:nvPr/>
          </p:nvSpPr>
          <p:spPr>
            <a:xfrm>
              <a:off x="5824236" y="2097956"/>
              <a:ext cx="33740" cy="97782"/>
            </a:xfrm>
            <a:custGeom>
              <a:rect b="b" l="l" r="r" t="t"/>
              <a:pathLst>
                <a:path extrusionOk="0" h="3072" w="1060">
                  <a:moveTo>
                    <a:pt x="703" y="345"/>
                  </a:moveTo>
                  <a:lnTo>
                    <a:pt x="703" y="2715"/>
                  </a:lnTo>
                  <a:lnTo>
                    <a:pt x="345" y="2715"/>
                  </a:lnTo>
                  <a:lnTo>
                    <a:pt x="345" y="345"/>
                  </a:lnTo>
                  <a:close/>
                  <a:moveTo>
                    <a:pt x="179" y="0"/>
                  </a:moveTo>
                  <a:cubicBezTo>
                    <a:pt x="95" y="0"/>
                    <a:pt x="0" y="84"/>
                    <a:pt x="0" y="179"/>
                  </a:cubicBezTo>
                  <a:lnTo>
                    <a:pt x="0" y="2893"/>
                  </a:lnTo>
                  <a:cubicBezTo>
                    <a:pt x="0" y="2977"/>
                    <a:pt x="83" y="3072"/>
                    <a:pt x="179" y="3072"/>
                  </a:cubicBezTo>
                  <a:lnTo>
                    <a:pt x="881" y="3072"/>
                  </a:lnTo>
                  <a:cubicBezTo>
                    <a:pt x="976" y="3072"/>
                    <a:pt x="1060" y="3001"/>
                    <a:pt x="1060" y="2893"/>
                  </a:cubicBezTo>
                  <a:lnTo>
                    <a:pt x="1060" y="179"/>
                  </a:lnTo>
                  <a:cubicBezTo>
                    <a:pt x="1048" y="84"/>
                    <a:pt x="976" y="0"/>
                    <a:pt x="881"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9"/>
            <p:cNvSpPr/>
            <p:nvPr/>
          </p:nvSpPr>
          <p:spPr>
            <a:xfrm>
              <a:off x="5864024" y="2111961"/>
              <a:ext cx="33740" cy="83426"/>
            </a:xfrm>
            <a:custGeom>
              <a:rect b="b" l="l" r="r" t="t"/>
              <a:pathLst>
                <a:path extrusionOk="0" h="2621" w="1060">
                  <a:moveTo>
                    <a:pt x="703" y="358"/>
                  </a:moveTo>
                  <a:lnTo>
                    <a:pt x="703" y="2275"/>
                  </a:lnTo>
                  <a:lnTo>
                    <a:pt x="346" y="2275"/>
                  </a:lnTo>
                  <a:lnTo>
                    <a:pt x="346" y="358"/>
                  </a:lnTo>
                  <a:close/>
                  <a:moveTo>
                    <a:pt x="191" y="1"/>
                  </a:moveTo>
                  <a:cubicBezTo>
                    <a:pt x="96" y="1"/>
                    <a:pt x="0" y="72"/>
                    <a:pt x="0" y="179"/>
                  </a:cubicBezTo>
                  <a:lnTo>
                    <a:pt x="0" y="2442"/>
                  </a:lnTo>
                  <a:cubicBezTo>
                    <a:pt x="0" y="2525"/>
                    <a:pt x="84" y="2620"/>
                    <a:pt x="191" y="2620"/>
                  </a:cubicBezTo>
                  <a:lnTo>
                    <a:pt x="881" y="2620"/>
                  </a:lnTo>
                  <a:cubicBezTo>
                    <a:pt x="977" y="2620"/>
                    <a:pt x="1060" y="2537"/>
                    <a:pt x="1060" y="2442"/>
                  </a:cubicBezTo>
                  <a:lnTo>
                    <a:pt x="1060" y="179"/>
                  </a:lnTo>
                  <a:cubicBezTo>
                    <a:pt x="1048" y="84"/>
                    <a:pt x="977" y="1"/>
                    <a:pt x="881" y="1"/>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9"/>
            <p:cNvSpPr/>
            <p:nvPr/>
          </p:nvSpPr>
          <p:spPr>
            <a:xfrm>
              <a:off x="5904193" y="2065744"/>
              <a:ext cx="33390" cy="129644"/>
            </a:xfrm>
            <a:custGeom>
              <a:rect b="b" l="l" r="r" t="t"/>
              <a:pathLst>
                <a:path extrusionOk="0" h="4073" w="1049">
                  <a:moveTo>
                    <a:pt x="691" y="357"/>
                  </a:moveTo>
                  <a:lnTo>
                    <a:pt x="691" y="3727"/>
                  </a:lnTo>
                  <a:lnTo>
                    <a:pt x="334" y="3727"/>
                  </a:lnTo>
                  <a:lnTo>
                    <a:pt x="334" y="357"/>
                  </a:lnTo>
                  <a:close/>
                  <a:moveTo>
                    <a:pt x="179" y="0"/>
                  </a:moveTo>
                  <a:cubicBezTo>
                    <a:pt x="72" y="24"/>
                    <a:pt x="0" y="95"/>
                    <a:pt x="0" y="179"/>
                  </a:cubicBezTo>
                  <a:lnTo>
                    <a:pt x="0" y="3894"/>
                  </a:lnTo>
                  <a:cubicBezTo>
                    <a:pt x="0" y="3977"/>
                    <a:pt x="72" y="4072"/>
                    <a:pt x="179" y="4072"/>
                  </a:cubicBezTo>
                  <a:lnTo>
                    <a:pt x="870" y="4072"/>
                  </a:lnTo>
                  <a:cubicBezTo>
                    <a:pt x="965" y="4072"/>
                    <a:pt x="1048" y="3989"/>
                    <a:pt x="1048" y="3894"/>
                  </a:cubicBezTo>
                  <a:lnTo>
                    <a:pt x="1048" y="179"/>
                  </a:lnTo>
                  <a:cubicBezTo>
                    <a:pt x="1048" y="95"/>
                    <a:pt x="977" y="0"/>
                    <a:pt x="870"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9"/>
            <p:cNvSpPr/>
            <p:nvPr/>
          </p:nvSpPr>
          <p:spPr>
            <a:xfrm>
              <a:off x="5713563" y="2080131"/>
              <a:ext cx="40965" cy="11395"/>
            </a:xfrm>
            <a:custGeom>
              <a:rect b="b" l="l" r="r" t="t"/>
              <a:pathLst>
                <a:path extrusionOk="0" h="358" w="1287">
                  <a:moveTo>
                    <a:pt x="179" y="1"/>
                  </a:moveTo>
                  <a:cubicBezTo>
                    <a:pt x="96" y="1"/>
                    <a:pt x="1" y="72"/>
                    <a:pt x="1" y="179"/>
                  </a:cubicBezTo>
                  <a:cubicBezTo>
                    <a:pt x="12" y="263"/>
                    <a:pt x="96" y="358"/>
                    <a:pt x="179" y="358"/>
                  </a:cubicBezTo>
                  <a:lnTo>
                    <a:pt x="1108" y="358"/>
                  </a:lnTo>
                  <a:cubicBezTo>
                    <a:pt x="1191" y="358"/>
                    <a:pt x="1286" y="286"/>
                    <a:pt x="1286" y="179"/>
                  </a:cubicBezTo>
                  <a:cubicBezTo>
                    <a:pt x="1286" y="72"/>
                    <a:pt x="1203" y="1"/>
                    <a:pt x="1108" y="1"/>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9"/>
            <p:cNvSpPr/>
            <p:nvPr/>
          </p:nvSpPr>
          <p:spPr>
            <a:xfrm>
              <a:off x="5713945" y="2097574"/>
              <a:ext cx="56880" cy="11395"/>
            </a:xfrm>
            <a:custGeom>
              <a:rect b="b" l="l" r="r" t="t"/>
              <a:pathLst>
                <a:path extrusionOk="0" h="358" w="1787">
                  <a:moveTo>
                    <a:pt x="179" y="0"/>
                  </a:moveTo>
                  <a:cubicBezTo>
                    <a:pt x="96" y="0"/>
                    <a:pt x="0" y="72"/>
                    <a:pt x="0" y="179"/>
                  </a:cubicBezTo>
                  <a:cubicBezTo>
                    <a:pt x="0" y="274"/>
                    <a:pt x="84" y="357"/>
                    <a:pt x="179" y="357"/>
                  </a:cubicBezTo>
                  <a:lnTo>
                    <a:pt x="1608" y="357"/>
                  </a:lnTo>
                  <a:cubicBezTo>
                    <a:pt x="1703" y="357"/>
                    <a:pt x="1786" y="286"/>
                    <a:pt x="1786" y="179"/>
                  </a:cubicBezTo>
                  <a:cubicBezTo>
                    <a:pt x="1774" y="72"/>
                    <a:pt x="1703" y="0"/>
                    <a:pt x="1608"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9"/>
            <p:cNvSpPr/>
            <p:nvPr/>
          </p:nvSpPr>
          <p:spPr>
            <a:xfrm>
              <a:off x="5713945" y="2114985"/>
              <a:ext cx="56880" cy="11427"/>
            </a:xfrm>
            <a:custGeom>
              <a:rect b="b" l="l" r="r" t="t"/>
              <a:pathLst>
                <a:path extrusionOk="0" h="359" w="1787">
                  <a:moveTo>
                    <a:pt x="179" y="1"/>
                  </a:moveTo>
                  <a:cubicBezTo>
                    <a:pt x="96" y="1"/>
                    <a:pt x="0" y="84"/>
                    <a:pt x="0" y="180"/>
                  </a:cubicBezTo>
                  <a:cubicBezTo>
                    <a:pt x="0" y="275"/>
                    <a:pt x="84" y="358"/>
                    <a:pt x="179" y="358"/>
                  </a:cubicBezTo>
                  <a:lnTo>
                    <a:pt x="1608" y="358"/>
                  </a:lnTo>
                  <a:cubicBezTo>
                    <a:pt x="1703" y="358"/>
                    <a:pt x="1786" y="287"/>
                    <a:pt x="1786" y="180"/>
                  </a:cubicBezTo>
                  <a:cubicBezTo>
                    <a:pt x="1774" y="84"/>
                    <a:pt x="1703" y="1"/>
                    <a:pt x="1608" y="1"/>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9"/>
            <p:cNvSpPr/>
            <p:nvPr/>
          </p:nvSpPr>
          <p:spPr>
            <a:xfrm>
              <a:off x="5713945" y="2132810"/>
              <a:ext cx="56880" cy="11013"/>
            </a:xfrm>
            <a:custGeom>
              <a:rect b="b" l="l" r="r" t="t"/>
              <a:pathLst>
                <a:path extrusionOk="0" h="346" w="1787">
                  <a:moveTo>
                    <a:pt x="179" y="1"/>
                  </a:moveTo>
                  <a:cubicBezTo>
                    <a:pt x="96" y="1"/>
                    <a:pt x="0" y="72"/>
                    <a:pt x="0" y="179"/>
                  </a:cubicBezTo>
                  <a:cubicBezTo>
                    <a:pt x="0" y="263"/>
                    <a:pt x="84" y="346"/>
                    <a:pt x="179" y="346"/>
                  </a:cubicBezTo>
                  <a:lnTo>
                    <a:pt x="1608" y="346"/>
                  </a:lnTo>
                  <a:cubicBezTo>
                    <a:pt x="1703" y="346"/>
                    <a:pt x="1786" y="274"/>
                    <a:pt x="1786" y="179"/>
                  </a:cubicBezTo>
                  <a:cubicBezTo>
                    <a:pt x="1774" y="72"/>
                    <a:pt x="1703" y="1"/>
                    <a:pt x="1608" y="1"/>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9"/>
            <p:cNvSpPr/>
            <p:nvPr/>
          </p:nvSpPr>
          <p:spPr>
            <a:xfrm>
              <a:off x="5663526" y="2182464"/>
              <a:ext cx="69389" cy="68625"/>
            </a:xfrm>
            <a:custGeom>
              <a:rect b="b" l="l" r="r" t="t"/>
              <a:pathLst>
                <a:path extrusionOk="0" h="2156" w="2180">
                  <a:moveTo>
                    <a:pt x="1084" y="0"/>
                  </a:moveTo>
                  <a:cubicBezTo>
                    <a:pt x="489" y="0"/>
                    <a:pt x="1" y="488"/>
                    <a:pt x="1" y="1084"/>
                  </a:cubicBezTo>
                  <a:cubicBezTo>
                    <a:pt x="1" y="1322"/>
                    <a:pt x="72" y="1548"/>
                    <a:pt x="215" y="1739"/>
                  </a:cubicBezTo>
                  <a:cubicBezTo>
                    <a:pt x="250" y="1780"/>
                    <a:pt x="300" y="1806"/>
                    <a:pt x="351" y="1806"/>
                  </a:cubicBezTo>
                  <a:cubicBezTo>
                    <a:pt x="387" y="1806"/>
                    <a:pt x="423" y="1792"/>
                    <a:pt x="453" y="1762"/>
                  </a:cubicBezTo>
                  <a:cubicBezTo>
                    <a:pt x="537" y="1715"/>
                    <a:pt x="549" y="1608"/>
                    <a:pt x="489" y="1524"/>
                  </a:cubicBezTo>
                  <a:cubicBezTo>
                    <a:pt x="382" y="1393"/>
                    <a:pt x="334" y="1250"/>
                    <a:pt x="334" y="1084"/>
                  </a:cubicBezTo>
                  <a:cubicBezTo>
                    <a:pt x="334" y="679"/>
                    <a:pt x="668" y="334"/>
                    <a:pt x="1084" y="334"/>
                  </a:cubicBezTo>
                  <a:cubicBezTo>
                    <a:pt x="1489" y="334"/>
                    <a:pt x="1823" y="667"/>
                    <a:pt x="1823" y="1084"/>
                  </a:cubicBezTo>
                  <a:cubicBezTo>
                    <a:pt x="1823" y="1334"/>
                    <a:pt x="1703" y="1560"/>
                    <a:pt x="1501" y="1691"/>
                  </a:cubicBezTo>
                  <a:cubicBezTo>
                    <a:pt x="1489" y="1691"/>
                    <a:pt x="1489" y="1715"/>
                    <a:pt x="1465" y="1715"/>
                  </a:cubicBezTo>
                  <a:lnTo>
                    <a:pt x="1453" y="1715"/>
                  </a:lnTo>
                  <a:lnTo>
                    <a:pt x="1442" y="1727"/>
                  </a:lnTo>
                  <a:lnTo>
                    <a:pt x="1430" y="1727"/>
                  </a:lnTo>
                  <a:cubicBezTo>
                    <a:pt x="1406" y="1727"/>
                    <a:pt x="1406" y="1739"/>
                    <a:pt x="1394" y="1739"/>
                  </a:cubicBezTo>
                  <a:cubicBezTo>
                    <a:pt x="1382" y="1739"/>
                    <a:pt x="1382" y="1751"/>
                    <a:pt x="1370" y="1751"/>
                  </a:cubicBezTo>
                  <a:lnTo>
                    <a:pt x="1346" y="1751"/>
                  </a:lnTo>
                  <a:cubicBezTo>
                    <a:pt x="1346" y="1751"/>
                    <a:pt x="1334" y="1751"/>
                    <a:pt x="1334" y="1774"/>
                  </a:cubicBezTo>
                  <a:lnTo>
                    <a:pt x="1322" y="1774"/>
                  </a:lnTo>
                  <a:cubicBezTo>
                    <a:pt x="1311" y="1774"/>
                    <a:pt x="1311" y="1774"/>
                    <a:pt x="1287" y="1786"/>
                  </a:cubicBezTo>
                  <a:cubicBezTo>
                    <a:pt x="1275" y="1786"/>
                    <a:pt x="1275" y="1786"/>
                    <a:pt x="1263" y="1798"/>
                  </a:cubicBezTo>
                  <a:lnTo>
                    <a:pt x="834" y="1798"/>
                  </a:lnTo>
                  <a:cubicBezTo>
                    <a:pt x="811" y="1798"/>
                    <a:pt x="811" y="1798"/>
                    <a:pt x="799" y="1786"/>
                  </a:cubicBezTo>
                  <a:cubicBezTo>
                    <a:pt x="787" y="1786"/>
                    <a:pt x="787" y="1786"/>
                    <a:pt x="775" y="1774"/>
                  </a:cubicBezTo>
                  <a:lnTo>
                    <a:pt x="751" y="1774"/>
                  </a:lnTo>
                  <a:cubicBezTo>
                    <a:pt x="732" y="1766"/>
                    <a:pt x="712" y="1762"/>
                    <a:pt x="691" y="1762"/>
                  </a:cubicBezTo>
                  <a:cubicBezTo>
                    <a:pt x="623" y="1762"/>
                    <a:pt x="555" y="1805"/>
                    <a:pt x="537" y="1870"/>
                  </a:cubicBezTo>
                  <a:cubicBezTo>
                    <a:pt x="501" y="1965"/>
                    <a:pt x="549" y="2072"/>
                    <a:pt x="632" y="2096"/>
                  </a:cubicBezTo>
                  <a:lnTo>
                    <a:pt x="656" y="2096"/>
                  </a:lnTo>
                  <a:cubicBezTo>
                    <a:pt x="668" y="2096"/>
                    <a:pt x="680" y="2108"/>
                    <a:pt x="691" y="2108"/>
                  </a:cubicBezTo>
                  <a:cubicBezTo>
                    <a:pt x="715" y="2108"/>
                    <a:pt x="727" y="2132"/>
                    <a:pt x="739" y="2132"/>
                  </a:cubicBezTo>
                  <a:lnTo>
                    <a:pt x="751" y="2132"/>
                  </a:lnTo>
                  <a:cubicBezTo>
                    <a:pt x="775" y="2132"/>
                    <a:pt x="787" y="2132"/>
                    <a:pt x="787" y="2143"/>
                  </a:cubicBezTo>
                  <a:lnTo>
                    <a:pt x="799" y="2143"/>
                  </a:lnTo>
                  <a:cubicBezTo>
                    <a:pt x="811" y="2143"/>
                    <a:pt x="834" y="2143"/>
                    <a:pt x="846" y="2155"/>
                  </a:cubicBezTo>
                  <a:lnTo>
                    <a:pt x="1156" y="2155"/>
                  </a:lnTo>
                  <a:cubicBezTo>
                    <a:pt x="1168" y="2155"/>
                    <a:pt x="1180" y="2155"/>
                    <a:pt x="1203" y="2143"/>
                  </a:cubicBezTo>
                  <a:lnTo>
                    <a:pt x="1215" y="2143"/>
                  </a:lnTo>
                  <a:cubicBezTo>
                    <a:pt x="1227" y="2143"/>
                    <a:pt x="1239" y="2143"/>
                    <a:pt x="1239" y="2132"/>
                  </a:cubicBezTo>
                  <a:lnTo>
                    <a:pt x="1263" y="2132"/>
                  </a:lnTo>
                  <a:cubicBezTo>
                    <a:pt x="1275" y="2132"/>
                    <a:pt x="1287" y="2108"/>
                    <a:pt x="1299" y="2108"/>
                  </a:cubicBezTo>
                  <a:cubicBezTo>
                    <a:pt x="1322" y="2108"/>
                    <a:pt x="1334" y="2096"/>
                    <a:pt x="1346" y="2096"/>
                  </a:cubicBezTo>
                  <a:lnTo>
                    <a:pt x="1358" y="2096"/>
                  </a:lnTo>
                  <a:cubicBezTo>
                    <a:pt x="1382" y="2096"/>
                    <a:pt x="1382" y="2084"/>
                    <a:pt x="1394" y="2084"/>
                  </a:cubicBezTo>
                  <a:lnTo>
                    <a:pt x="1406" y="2084"/>
                  </a:lnTo>
                  <a:cubicBezTo>
                    <a:pt x="1418" y="2084"/>
                    <a:pt x="1442" y="2072"/>
                    <a:pt x="1453" y="2072"/>
                  </a:cubicBezTo>
                  <a:cubicBezTo>
                    <a:pt x="1465" y="2072"/>
                    <a:pt x="1477" y="2048"/>
                    <a:pt x="1501" y="2048"/>
                  </a:cubicBezTo>
                  <a:lnTo>
                    <a:pt x="1513" y="2048"/>
                  </a:lnTo>
                  <a:cubicBezTo>
                    <a:pt x="1525" y="2048"/>
                    <a:pt x="1525" y="2036"/>
                    <a:pt x="1537" y="2036"/>
                  </a:cubicBezTo>
                  <a:lnTo>
                    <a:pt x="1561" y="2036"/>
                  </a:lnTo>
                  <a:cubicBezTo>
                    <a:pt x="1573" y="2024"/>
                    <a:pt x="1584" y="2024"/>
                    <a:pt x="1596" y="2012"/>
                  </a:cubicBezTo>
                  <a:cubicBezTo>
                    <a:pt x="1894" y="1798"/>
                    <a:pt x="2073" y="1465"/>
                    <a:pt x="2073" y="1096"/>
                  </a:cubicBezTo>
                  <a:cubicBezTo>
                    <a:pt x="2180" y="488"/>
                    <a:pt x="1692" y="0"/>
                    <a:pt x="1084"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 name="Google Shape;347;p29"/>
          <p:cNvGrpSpPr/>
          <p:nvPr/>
        </p:nvGrpSpPr>
        <p:grpSpPr>
          <a:xfrm>
            <a:off x="2530422" y="3159332"/>
            <a:ext cx="353153" cy="333586"/>
            <a:chOff x="1327676" y="2910480"/>
            <a:chExt cx="347934" cy="310024"/>
          </a:xfrm>
        </p:grpSpPr>
        <p:sp>
          <p:nvSpPr>
            <p:cNvPr id="348" name="Google Shape;348;p29"/>
            <p:cNvSpPr/>
            <p:nvPr/>
          </p:nvSpPr>
          <p:spPr>
            <a:xfrm>
              <a:off x="1367081" y="3067370"/>
              <a:ext cx="43257" cy="15565"/>
            </a:xfrm>
            <a:custGeom>
              <a:rect b="b" l="l" r="r" t="t"/>
              <a:pathLst>
                <a:path extrusionOk="0" h="489" w="1359">
                  <a:moveTo>
                    <a:pt x="167" y="0"/>
                  </a:moveTo>
                  <a:cubicBezTo>
                    <a:pt x="72" y="0"/>
                    <a:pt x="1" y="72"/>
                    <a:pt x="1" y="167"/>
                  </a:cubicBezTo>
                  <a:cubicBezTo>
                    <a:pt x="1" y="250"/>
                    <a:pt x="72" y="322"/>
                    <a:pt x="167" y="322"/>
                  </a:cubicBezTo>
                  <a:cubicBezTo>
                    <a:pt x="346" y="322"/>
                    <a:pt x="870" y="358"/>
                    <a:pt x="1120" y="477"/>
                  </a:cubicBezTo>
                  <a:cubicBezTo>
                    <a:pt x="1144" y="488"/>
                    <a:pt x="1168" y="488"/>
                    <a:pt x="1191" y="488"/>
                  </a:cubicBezTo>
                  <a:cubicBezTo>
                    <a:pt x="1251" y="488"/>
                    <a:pt x="1310" y="465"/>
                    <a:pt x="1346" y="405"/>
                  </a:cubicBezTo>
                  <a:cubicBezTo>
                    <a:pt x="1358" y="322"/>
                    <a:pt x="1334" y="238"/>
                    <a:pt x="1251" y="191"/>
                  </a:cubicBezTo>
                  <a:cubicBezTo>
                    <a:pt x="882" y="12"/>
                    <a:pt x="191" y="0"/>
                    <a:pt x="167"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9"/>
            <p:cNvSpPr/>
            <p:nvPr/>
          </p:nvSpPr>
          <p:spPr>
            <a:xfrm>
              <a:off x="1350402" y="3170436"/>
              <a:ext cx="10663" cy="48541"/>
            </a:xfrm>
            <a:custGeom>
              <a:rect b="b" l="l" r="r" t="t"/>
              <a:pathLst>
                <a:path extrusionOk="0" h="1525" w="335">
                  <a:moveTo>
                    <a:pt x="168" y="1"/>
                  </a:moveTo>
                  <a:cubicBezTo>
                    <a:pt x="84" y="1"/>
                    <a:pt x="1" y="84"/>
                    <a:pt x="1" y="168"/>
                  </a:cubicBezTo>
                  <a:lnTo>
                    <a:pt x="1" y="1358"/>
                  </a:lnTo>
                  <a:cubicBezTo>
                    <a:pt x="1" y="1453"/>
                    <a:pt x="84" y="1525"/>
                    <a:pt x="168" y="1525"/>
                  </a:cubicBezTo>
                  <a:cubicBezTo>
                    <a:pt x="263" y="1525"/>
                    <a:pt x="334" y="1453"/>
                    <a:pt x="334" y="1358"/>
                  </a:cubicBezTo>
                  <a:lnTo>
                    <a:pt x="334" y="168"/>
                  </a:lnTo>
                  <a:cubicBezTo>
                    <a:pt x="334" y="84"/>
                    <a:pt x="263" y="1"/>
                    <a:pt x="168" y="1"/>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9"/>
            <p:cNvSpPr/>
            <p:nvPr/>
          </p:nvSpPr>
          <p:spPr>
            <a:xfrm>
              <a:off x="1327676" y="3040187"/>
              <a:ext cx="201643" cy="180317"/>
            </a:xfrm>
            <a:custGeom>
              <a:rect b="b" l="l" r="r" t="t"/>
              <a:pathLst>
                <a:path extrusionOk="0" h="5665" w="6335">
                  <a:moveTo>
                    <a:pt x="5894" y="628"/>
                  </a:moveTo>
                  <a:lnTo>
                    <a:pt x="5954" y="866"/>
                  </a:lnTo>
                  <a:cubicBezTo>
                    <a:pt x="5977" y="926"/>
                    <a:pt x="5966" y="997"/>
                    <a:pt x="5918" y="1045"/>
                  </a:cubicBezTo>
                  <a:lnTo>
                    <a:pt x="5823" y="1140"/>
                  </a:lnTo>
                  <a:lnTo>
                    <a:pt x="5596" y="914"/>
                  </a:lnTo>
                  <a:lnTo>
                    <a:pt x="5894" y="628"/>
                  </a:lnTo>
                  <a:close/>
                  <a:moveTo>
                    <a:pt x="2941" y="307"/>
                  </a:moveTo>
                  <a:lnTo>
                    <a:pt x="2941" y="961"/>
                  </a:lnTo>
                  <a:cubicBezTo>
                    <a:pt x="2941" y="1057"/>
                    <a:pt x="2906" y="1164"/>
                    <a:pt x="2870" y="1271"/>
                  </a:cubicBezTo>
                  <a:lnTo>
                    <a:pt x="2787" y="1438"/>
                  </a:lnTo>
                  <a:cubicBezTo>
                    <a:pt x="2775" y="1450"/>
                    <a:pt x="2775" y="1473"/>
                    <a:pt x="2775" y="1509"/>
                  </a:cubicBezTo>
                  <a:lnTo>
                    <a:pt x="2775" y="1854"/>
                  </a:lnTo>
                  <a:cubicBezTo>
                    <a:pt x="2775" y="2104"/>
                    <a:pt x="2667" y="2331"/>
                    <a:pt x="2513" y="2485"/>
                  </a:cubicBezTo>
                  <a:cubicBezTo>
                    <a:pt x="2363" y="2635"/>
                    <a:pt x="2165" y="2727"/>
                    <a:pt x="1954" y="2727"/>
                  </a:cubicBezTo>
                  <a:cubicBezTo>
                    <a:pt x="1930" y="2727"/>
                    <a:pt x="1906" y="2726"/>
                    <a:pt x="1882" y="2724"/>
                  </a:cubicBezTo>
                  <a:cubicBezTo>
                    <a:pt x="1417" y="2712"/>
                    <a:pt x="1048" y="2307"/>
                    <a:pt x="1048" y="1819"/>
                  </a:cubicBezTo>
                  <a:lnTo>
                    <a:pt x="1048" y="1521"/>
                  </a:lnTo>
                  <a:cubicBezTo>
                    <a:pt x="1048" y="1497"/>
                    <a:pt x="1048" y="1473"/>
                    <a:pt x="1036" y="1450"/>
                  </a:cubicBezTo>
                  <a:lnTo>
                    <a:pt x="929" y="1259"/>
                  </a:lnTo>
                  <a:cubicBezTo>
                    <a:pt x="905" y="1176"/>
                    <a:pt x="870" y="1104"/>
                    <a:pt x="870" y="1021"/>
                  </a:cubicBezTo>
                  <a:lnTo>
                    <a:pt x="870" y="997"/>
                  </a:lnTo>
                  <a:cubicBezTo>
                    <a:pt x="870" y="616"/>
                    <a:pt x="1179" y="307"/>
                    <a:pt x="1572" y="307"/>
                  </a:cubicBezTo>
                  <a:close/>
                  <a:moveTo>
                    <a:pt x="2275" y="2986"/>
                  </a:moveTo>
                  <a:cubicBezTo>
                    <a:pt x="2286" y="3045"/>
                    <a:pt x="2298" y="3081"/>
                    <a:pt x="2310" y="3117"/>
                  </a:cubicBezTo>
                  <a:lnTo>
                    <a:pt x="2167" y="3259"/>
                  </a:lnTo>
                  <a:cubicBezTo>
                    <a:pt x="2102" y="3325"/>
                    <a:pt x="2013" y="3358"/>
                    <a:pt x="1923" y="3358"/>
                  </a:cubicBezTo>
                  <a:cubicBezTo>
                    <a:pt x="1834" y="3358"/>
                    <a:pt x="1745" y="3325"/>
                    <a:pt x="1679" y="3259"/>
                  </a:cubicBezTo>
                  <a:lnTo>
                    <a:pt x="1536" y="3128"/>
                  </a:lnTo>
                  <a:cubicBezTo>
                    <a:pt x="1560" y="3081"/>
                    <a:pt x="1572" y="3045"/>
                    <a:pt x="1572" y="2986"/>
                  </a:cubicBezTo>
                  <a:cubicBezTo>
                    <a:pt x="1679" y="3009"/>
                    <a:pt x="1775" y="3045"/>
                    <a:pt x="1882" y="3045"/>
                  </a:cubicBezTo>
                  <a:lnTo>
                    <a:pt x="1917" y="3045"/>
                  </a:lnTo>
                  <a:cubicBezTo>
                    <a:pt x="2036" y="3045"/>
                    <a:pt x="2167" y="3021"/>
                    <a:pt x="2275" y="2986"/>
                  </a:cubicBezTo>
                  <a:close/>
                  <a:moveTo>
                    <a:pt x="6162" y="0"/>
                  </a:moveTo>
                  <a:cubicBezTo>
                    <a:pt x="6120" y="0"/>
                    <a:pt x="6079" y="15"/>
                    <a:pt x="6049" y="45"/>
                  </a:cubicBezTo>
                  <a:lnTo>
                    <a:pt x="2906" y="3021"/>
                  </a:lnTo>
                  <a:cubicBezTo>
                    <a:pt x="2882" y="3057"/>
                    <a:pt x="2834" y="3069"/>
                    <a:pt x="2787" y="3069"/>
                  </a:cubicBezTo>
                  <a:lnTo>
                    <a:pt x="2763" y="3069"/>
                  </a:lnTo>
                  <a:cubicBezTo>
                    <a:pt x="2656" y="3069"/>
                    <a:pt x="2584" y="2997"/>
                    <a:pt x="2584" y="2890"/>
                  </a:cubicBezTo>
                  <a:lnTo>
                    <a:pt x="2584" y="2843"/>
                  </a:lnTo>
                  <a:cubicBezTo>
                    <a:pt x="2644" y="2819"/>
                    <a:pt x="2679" y="2771"/>
                    <a:pt x="2727" y="2724"/>
                  </a:cubicBezTo>
                  <a:cubicBezTo>
                    <a:pt x="2965" y="2497"/>
                    <a:pt x="3084" y="2200"/>
                    <a:pt x="3084" y="1878"/>
                  </a:cubicBezTo>
                  <a:lnTo>
                    <a:pt x="3084" y="1581"/>
                  </a:lnTo>
                  <a:lnTo>
                    <a:pt x="3144" y="1450"/>
                  </a:lnTo>
                  <a:cubicBezTo>
                    <a:pt x="3215" y="1307"/>
                    <a:pt x="3251" y="1152"/>
                    <a:pt x="3251" y="997"/>
                  </a:cubicBezTo>
                  <a:lnTo>
                    <a:pt x="3251" y="176"/>
                  </a:lnTo>
                  <a:cubicBezTo>
                    <a:pt x="3251" y="92"/>
                    <a:pt x="3179" y="21"/>
                    <a:pt x="3084" y="21"/>
                  </a:cubicBezTo>
                  <a:lnTo>
                    <a:pt x="1548" y="21"/>
                  </a:lnTo>
                  <a:cubicBezTo>
                    <a:pt x="1001" y="21"/>
                    <a:pt x="536" y="461"/>
                    <a:pt x="536" y="1033"/>
                  </a:cubicBezTo>
                  <a:lnTo>
                    <a:pt x="536" y="1045"/>
                  </a:lnTo>
                  <a:cubicBezTo>
                    <a:pt x="536" y="1176"/>
                    <a:pt x="572" y="1295"/>
                    <a:pt x="632" y="1414"/>
                  </a:cubicBezTo>
                  <a:lnTo>
                    <a:pt x="703" y="1581"/>
                  </a:lnTo>
                  <a:lnTo>
                    <a:pt x="703" y="1831"/>
                  </a:lnTo>
                  <a:cubicBezTo>
                    <a:pt x="703" y="2247"/>
                    <a:pt x="917" y="2616"/>
                    <a:pt x="1215" y="2843"/>
                  </a:cubicBezTo>
                  <a:lnTo>
                    <a:pt x="1215" y="2997"/>
                  </a:lnTo>
                  <a:cubicBezTo>
                    <a:pt x="1215" y="3069"/>
                    <a:pt x="1155" y="3140"/>
                    <a:pt x="1072" y="3176"/>
                  </a:cubicBezTo>
                  <a:lnTo>
                    <a:pt x="501" y="3343"/>
                  </a:lnTo>
                  <a:cubicBezTo>
                    <a:pt x="215" y="3414"/>
                    <a:pt x="0" y="3676"/>
                    <a:pt x="0" y="3974"/>
                  </a:cubicBezTo>
                  <a:lnTo>
                    <a:pt x="0" y="5462"/>
                  </a:lnTo>
                  <a:cubicBezTo>
                    <a:pt x="0" y="5557"/>
                    <a:pt x="84" y="5629"/>
                    <a:pt x="167" y="5629"/>
                  </a:cubicBezTo>
                  <a:cubicBezTo>
                    <a:pt x="262" y="5629"/>
                    <a:pt x="334" y="5557"/>
                    <a:pt x="334" y="5462"/>
                  </a:cubicBezTo>
                  <a:lnTo>
                    <a:pt x="334" y="3974"/>
                  </a:lnTo>
                  <a:cubicBezTo>
                    <a:pt x="334" y="3831"/>
                    <a:pt x="441" y="3676"/>
                    <a:pt x="584" y="3640"/>
                  </a:cubicBezTo>
                  <a:lnTo>
                    <a:pt x="1167" y="3474"/>
                  </a:lnTo>
                  <a:cubicBezTo>
                    <a:pt x="1215" y="3450"/>
                    <a:pt x="1251" y="3438"/>
                    <a:pt x="1298" y="3414"/>
                  </a:cubicBezTo>
                  <a:lnTo>
                    <a:pt x="1405" y="3521"/>
                  </a:lnTo>
                  <a:cubicBezTo>
                    <a:pt x="1536" y="3652"/>
                    <a:pt x="1703" y="3712"/>
                    <a:pt x="1882" y="3712"/>
                  </a:cubicBezTo>
                  <a:cubicBezTo>
                    <a:pt x="2060" y="3712"/>
                    <a:pt x="2227" y="3652"/>
                    <a:pt x="2358" y="3521"/>
                  </a:cubicBezTo>
                  <a:lnTo>
                    <a:pt x="2501" y="3367"/>
                  </a:lnTo>
                  <a:cubicBezTo>
                    <a:pt x="2584" y="3402"/>
                    <a:pt x="2656" y="3426"/>
                    <a:pt x="2727" y="3426"/>
                  </a:cubicBezTo>
                  <a:lnTo>
                    <a:pt x="2763" y="3426"/>
                  </a:lnTo>
                  <a:cubicBezTo>
                    <a:pt x="2894" y="3426"/>
                    <a:pt x="3013" y="3378"/>
                    <a:pt x="3096" y="3295"/>
                  </a:cubicBezTo>
                  <a:lnTo>
                    <a:pt x="5334" y="1176"/>
                  </a:lnTo>
                  <a:lnTo>
                    <a:pt x="5561" y="1402"/>
                  </a:lnTo>
                  <a:lnTo>
                    <a:pt x="2965" y="3986"/>
                  </a:lnTo>
                  <a:cubicBezTo>
                    <a:pt x="2798" y="4152"/>
                    <a:pt x="2715" y="4367"/>
                    <a:pt x="2715" y="4581"/>
                  </a:cubicBezTo>
                  <a:lnTo>
                    <a:pt x="2715" y="5498"/>
                  </a:lnTo>
                  <a:cubicBezTo>
                    <a:pt x="2715" y="5581"/>
                    <a:pt x="2787" y="5664"/>
                    <a:pt x="2882" y="5664"/>
                  </a:cubicBezTo>
                  <a:cubicBezTo>
                    <a:pt x="2965" y="5664"/>
                    <a:pt x="3037" y="5581"/>
                    <a:pt x="3037" y="5498"/>
                  </a:cubicBezTo>
                  <a:lnTo>
                    <a:pt x="3037" y="4581"/>
                  </a:lnTo>
                  <a:cubicBezTo>
                    <a:pt x="3037" y="4450"/>
                    <a:pt x="3096" y="4319"/>
                    <a:pt x="3191" y="4212"/>
                  </a:cubicBezTo>
                  <a:lnTo>
                    <a:pt x="6096" y="1307"/>
                  </a:lnTo>
                  <a:cubicBezTo>
                    <a:pt x="6216" y="1200"/>
                    <a:pt x="6275" y="997"/>
                    <a:pt x="6227" y="831"/>
                  </a:cubicBezTo>
                  <a:lnTo>
                    <a:pt x="6168" y="378"/>
                  </a:lnTo>
                  <a:lnTo>
                    <a:pt x="6275" y="271"/>
                  </a:lnTo>
                  <a:cubicBezTo>
                    <a:pt x="6335" y="211"/>
                    <a:pt x="6335" y="104"/>
                    <a:pt x="6275" y="45"/>
                  </a:cubicBezTo>
                  <a:cubicBezTo>
                    <a:pt x="6245" y="15"/>
                    <a:pt x="6204" y="0"/>
                    <a:pt x="6162"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9"/>
            <p:cNvSpPr/>
            <p:nvPr/>
          </p:nvSpPr>
          <p:spPr>
            <a:xfrm>
              <a:off x="1470179" y="2910480"/>
              <a:ext cx="205431" cy="173601"/>
            </a:xfrm>
            <a:custGeom>
              <a:rect b="b" l="l" r="r" t="t"/>
              <a:pathLst>
                <a:path extrusionOk="0" h="5454" w="6454">
                  <a:moveTo>
                    <a:pt x="500" y="0"/>
                  </a:moveTo>
                  <a:cubicBezTo>
                    <a:pt x="215" y="0"/>
                    <a:pt x="0" y="226"/>
                    <a:pt x="0" y="512"/>
                  </a:cubicBezTo>
                  <a:lnTo>
                    <a:pt x="0" y="4822"/>
                  </a:lnTo>
                  <a:cubicBezTo>
                    <a:pt x="0" y="4917"/>
                    <a:pt x="72" y="4989"/>
                    <a:pt x="155" y="4989"/>
                  </a:cubicBezTo>
                  <a:cubicBezTo>
                    <a:pt x="250" y="4989"/>
                    <a:pt x="322" y="4917"/>
                    <a:pt x="322" y="4822"/>
                  </a:cubicBezTo>
                  <a:lnTo>
                    <a:pt x="322" y="512"/>
                  </a:lnTo>
                  <a:cubicBezTo>
                    <a:pt x="322" y="405"/>
                    <a:pt x="393" y="322"/>
                    <a:pt x="500" y="322"/>
                  </a:cubicBezTo>
                  <a:lnTo>
                    <a:pt x="5953" y="322"/>
                  </a:lnTo>
                  <a:cubicBezTo>
                    <a:pt x="6049" y="322"/>
                    <a:pt x="6132" y="405"/>
                    <a:pt x="6132" y="512"/>
                  </a:cubicBezTo>
                  <a:lnTo>
                    <a:pt x="6132" y="4941"/>
                  </a:lnTo>
                  <a:cubicBezTo>
                    <a:pt x="6132" y="5048"/>
                    <a:pt x="6049" y="5120"/>
                    <a:pt x="5953" y="5120"/>
                  </a:cubicBezTo>
                  <a:lnTo>
                    <a:pt x="2298" y="5120"/>
                  </a:lnTo>
                  <a:cubicBezTo>
                    <a:pt x="2215" y="5120"/>
                    <a:pt x="2131" y="5191"/>
                    <a:pt x="2131" y="5287"/>
                  </a:cubicBezTo>
                  <a:cubicBezTo>
                    <a:pt x="2131" y="5370"/>
                    <a:pt x="2215" y="5453"/>
                    <a:pt x="2298" y="5453"/>
                  </a:cubicBezTo>
                  <a:lnTo>
                    <a:pt x="5953" y="5453"/>
                  </a:lnTo>
                  <a:cubicBezTo>
                    <a:pt x="6227" y="5453"/>
                    <a:pt x="6453" y="5227"/>
                    <a:pt x="6453" y="4941"/>
                  </a:cubicBezTo>
                  <a:lnTo>
                    <a:pt x="6453" y="512"/>
                  </a:lnTo>
                  <a:cubicBezTo>
                    <a:pt x="6453" y="226"/>
                    <a:pt x="6215" y="0"/>
                    <a:pt x="5953"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9"/>
            <p:cNvSpPr/>
            <p:nvPr/>
          </p:nvSpPr>
          <p:spPr>
            <a:xfrm>
              <a:off x="1497075" y="2942692"/>
              <a:ext cx="152370" cy="96668"/>
            </a:xfrm>
            <a:custGeom>
              <a:rect b="b" l="l" r="r" t="t"/>
              <a:pathLst>
                <a:path extrusionOk="0" h="3037" w="4787">
                  <a:moveTo>
                    <a:pt x="3751" y="0"/>
                  </a:moveTo>
                  <a:cubicBezTo>
                    <a:pt x="3656" y="0"/>
                    <a:pt x="3584" y="72"/>
                    <a:pt x="3584" y="167"/>
                  </a:cubicBezTo>
                  <a:cubicBezTo>
                    <a:pt x="3584" y="250"/>
                    <a:pt x="3656" y="334"/>
                    <a:pt x="3751" y="334"/>
                  </a:cubicBezTo>
                  <a:lnTo>
                    <a:pt x="4215" y="334"/>
                  </a:lnTo>
                  <a:lnTo>
                    <a:pt x="2465" y="2072"/>
                  </a:lnTo>
                  <a:lnTo>
                    <a:pt x="1727" y="1322"/>
                  </a:lnTo>
                  <a:cubicBezTo>
                    <a:pt x="1697" y="1292"/>
                    <a:pt x="1656" y="1277"/>
                    <a:pt x="1614" y="1277"/>
                  </a:cubicBezTo>
                  <a:cubicBezTo>
                    <a:pt x="1572" y="1277"/>
                    <a:pt x="1531" y="1292"/>
                    <a:pt x="1501" y="1322"/>
                  </a:cubicBezTo>
                  <a:lnTo>
                    <a:pt x="60" y="2774"/>
                  </a:lnTo>
                  <a:cubicBezTo>
                    <a:pt x="1" y="2834"/>
                    <a:pt x="1" y="2929"/>
                    <a:pt x="60" y="2989"/>
                  </a:cubicBezTo>
                  <a:cubicBezTo>
                    <a:pt x="84" y="3024"/>
                    <a:pt x="132" y="3036"/>
                    <a:pt x="179" y="3036"/>
                  </a:cubicBezTo>
                  <a:cubicBezTo>
                    <a:pt x="227" y="3036"/>
                    <a:pt x="251" y="3024"/>
                    <a:pt x="298" y="2989"/>
                  </a:cubicBezTo>
                  <a:lnTo>
                    <a:pt x="1632" y="1655"/>
                  </a:lnTo>
                  <a:lnTo>
                    <a:pt x="2382" y="2393"/>
                  </a:lnTo>
                  <a:cubicBezTo>
                    <a:pt x="2412" y="2423"/>
                    <a:pt x="2453" y="2438"/>
                    <a:pt x="2495" y="2438"/>
                  </a:cubicBezTo>
                  <a:cubicBezTo>
                    <a:pt x="2537" y="2438"/>
                    <a:pt x="2578" y="2423"/>
                    <a:pt x="2608" y="2393"/>
                  </a:cubicBezTo>
                  <a:lnTo>
                    <a:pt x="4465" y="536"/>
                  </a:lnTo>
                  <a:lnTo>
                    <a:pt x="4465" y="1000"/>
                  </a:lnTo>
                  <a:cubicBezTo>
                    <a:pt x="4465" y="1084"/>
                    <a:pt x="4537" y="1167"/>
                    <a:pt x="4632" y="1167"/>
                  </a:cubicBezTo>
                  <a:cubicBezTo>
                    <a:pt x="4715" y="1167"/>
                    <a:pt x="4787" y="1084"/>
                    <a:pt x="4787" y="1000"/>
                  </a:cubicBezTo>
                  <a:lnTo>
                    <a:pt x="4787" y="155"/>
                  </a:lnTo>
                  <a:cubicBezTo>
                    <a:pt x="4751" y="72"/>
                    <a:pt x="4692" y="0"/>
                    <a:pt x="4596" y="0"/>
                  </a:cubicBezTo>
                  <a:close/>
                </a:path>
              </a:pathLst>
            </a:custGeom>
            <a:solidFill>
              <a:srgbClr val="31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53" name="Google Shape;353;p29"/>
          <p:cNvPicPr preferRelativeResize="0"/>
          <p:nvPr/>
        </p:nvPicPr>
        <p:blipFill rotWithShape="1">
          <a:blip r:embed="rId3">
            <a:alphaModFix/>
          </a:blip>
          <a:srcRect b="15746" l="28480" r="28045" t="0"/>
          <a:stretch/>
        </p:blipFill>
        <p:spPr>
          <a:xfrm>
            <a:off x="2467691" y="2212962"/>
            <a:ext cx="416651" cy="38642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0"/>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solidFill>
                  <a:srgbClr val="5C5C5F"/>
                </a:solidFill>
              </a:rPr>
              <a:t>US Data</a:t>
            </a:r>
            <a:endParaRPr sz="4200">
              <a:solidFill>
                <a:srgbClr val="5C5C5F"/>
              </a:solidFill>
            </a:endParaRPr>
          </a:p>
        </p:txBody>
      </p:sp>
      <p:sp>
        <p:nvSpPr>
          <p:cNvPr id="359" name="Google Shape;359;p30"/>
          <p:cNvSpPr txBox="1"/>
          <p:nvPr>
            <p:ph idx="1" type="subTitle"/>
          </p:nvPr>
        </p:nvSpPr>
        <p:spPr>
          <a:xfrm>
            <a:off x="1959250" y="2939075"/>
            <a:ext cx="5225400" cy="44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Analyzing</a:t>
            </a:r>
            <a:r>
              <a:rPr lang="en"/>
              <a:t> the </a:t>
            </a:r>
            <a:r>
              <a:rPr b="1" lang="en"/>
              <a:t>Current US State</a:t>
            </a:r>
            <a:endParaRPr b="1"/>
          </a:p>
        </p:txBody>
      </p:sp>
      <p:sp>
        <p:nvSpPr>
          <p:cNvPr id="360" name="Google Shape;360;p30"/>
          <p:cNvSpPr txBox="1"/>
          <p:nvPr>
            <p:ph idx="2" type="title"/>
          </p:nvPr>
        </p:nvSpPr>
        <p:spPr>
          <a:xfrm>
            <a:off x="1959250" y="1854500"/>
            <a:ext cx="1189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809FAF"/>
                </a:solidFill>
              </a:rPr>
              <a:t>02</a:t>
            </a:r>
            <a:endParaRPr>
              <a:solidFill>
                <a:srgbClr val="809FAF"/>
              </a:solidFill>
            </a:endParaRPr>
          </a:p>
        </p:txBody>
      </p:sp>
      <p:sp>
        <p:nvSpPr>
          <p:cNvPr id="361" name="Google Shape;361;p3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362" name="Google Shape;362;p30"/>
          <p:cNvCxnSpPr/>
          <p:nvPr/>
        </p:nvCxnSpPr>
        <p:spPr>
          <a:xfrm flipH="1" rot="10800000">
            <a:off x="1600600" y="2910566"/>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363" name="Google Shape;363;p30"/>
          <p:cNvCxnSpPr/>
          <p:nvPr/>
        </p:nvCxnSpPr>
        <p:spPr>
          <a:xfrm flipH="1" rot="10800000">
            <a:off x="1600600" y="1714341"/>
            <a:ext cx="5942700" cy="6600"/>
          </a:xfrm>
          <a:prstGeom prst="straightConnector1">
            <a:avLst/>
          </a:prstGeom>
          <a:noFill/>
          <a:ln cap="flat" cmpd="sng" w="19050">
            <a:solidFill>
              <a:schemeClr val="lt1"/>
            </a:solidFill>
            <a:prstDash val="solid"/>
            <a:round/>
            <a:headEnd len="med" w="med" type="oval"/>
            <a:tailEnd len="med" w="med" type="oval"/>
          </a:ln>
        </p:spPr>
      </p:cxnSp>
      <p:sp>
        <p:nvSpPr>
          <p:cNvPr id="364" name="Google Shape;364;p30"/>
          <p:cNvSpPr/>
          <p:nvPr/>
        </p:nvSpPr>
        <p:spPr>
          <a:xfrm>
            <a:off x="32448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0"/>
          <p:cNvSpPr/>
          <p:nvPr/>
        </p:nvSpPr>
        <p:spPr>
          <a:xfrm>
            <a:off x="72805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1"/>
          <p:cNvSpPr txBox="1"/>
          <p:nvPr>
            <p:ph type="title"/>
          </p:nvPr>
        </p:nvSpPr>
        <p:spPr>
          <a:xfrm>
            <a:off x="720000" y="569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a:t>
            </a:r>
            <a:r>
              <a:rPr lang="en"/>
              <a:t> Data</a:t>
            </a:r>
            <a:endParaRPr/>
          </a:p>
        </p:txBody>
      </p:sp>
      <p:sp>
        <p:nvSpPr>
          <p:cNvPr id="371" name="Google Shape;371;p31"/>
          <p:cNvSpPr txBox="1"/>
          <p:nvPr>
            <p:ph idx="12" type="sldNum"/>
          </p:nvPr>
        </p:nvSpPr>
        <p:spPr>
          <a:xfrm>
            <a:off x="4297638" y="460002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72" name="Google Shape;372;p31"/>
          <p:cNvSpPr txBox="1"/>
          <p:nvPr/>
        </p:nvSpPr>
        <p:spPr>
          <a:xfrm>
            <a:off x="6346275" y="1277175"/>
            <a:ext cx="24999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Tuition Fees</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NCES</a:t>
            </a:r>
            <a:endParaRPr sz="2000">
              <a:solidFill>
                <a:schemeClr val="dk2"/>
              </a:solidFill>
              <a:latin typeface="Quicksand"/>
              <a:ea typeface="Quicksand"/>
              <a:cs typeface="Quicksand"/>
              <a:sym typeface="Quicksand"/>
            </a:endParaRPr>
          </a:p>
        </p:txBody>
      </p:sp>
      <p:sp>
        <p:nvSpPr>
          <p:cNvPr id="373" name="Google Shape;373;p31"/>
          <p:cNvSpPr txBox="1"/>
          <p:nvPr/>
        </p:nvSpPr>
        <p:spPr>
          <a:xfrm>
            <a:off x="463400" y="1277175"/>
            <a:ext cx="20829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Median Income</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FRED</a:t>
            </a:r>
            <a:endParaRPr sz="1600"/>
          </a:p>
        </p:txBody>
      </p:sp>
      <p:sp>
        <p:nvSpPr>
          <p:cNvPr id="374" name="Google Shape;374;p31"/>
          <p:cNvSpPr txBox="1"/>
          <p:nvPr/>
        </p:nvSpPr>
        <p:spPr>
          <a:xfrm>
            <a:off x="712845" y="2293550"/>
            <a:ext cx="20829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House Price </a:t>
            </a:r>
            <a:r>
              <a:rPr lang="en" sz="1600">
                <a:solidFill>
                  <a:schemeClr val="dk2"/>
                </a:solidFill>
                <a:latin typeface="Quicksand"/>
                <a:ea typeface="Quicksand"/>
                <a:cs typeface="Quicksand"/>
                <a:sym typeface="Quicksand"/>
              </a:rPr>
              <a:t>FRED</a:t>
            </a:r>
            <a:endParaRPr/>
          </a:p>
        </p:txBody>
      </p:sp>
      <p:sp>
        <p:nvSpPr>
          <p:cNvPr id="375" name="Google Shape;375;p31"/>
          <p:cNvSpPr txBox="1"/>
          <p:nvPr/>
        </p:nvSpPr>
        <p:spPr>
          <a:xfrm>
            <a:off x="2732563" y="1277175"/>
            <a:ext cx="36843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Medicare Monthly Premiums </a:t>
            </a:r>
            <a:r>
              <a:rPr lang="en" sz="1600">
                <a:solidFill>
                  <a:schemeClr val="dk2"/>
                </a:solidFill>
                <a:latin typeface="Quicksand"/>
                <a:ea typeface="Quicksand"/>
                <a:cs typeface="Quicksand"/>
                <a:sym typeface="Quicksand"/>
              </a:rPr>
              <a:t>The Balance</a:t>
            </a:r>
            <a:endParaRPr/>
          </a:p>
        </p:txBody>
      </p:sp>
      <p:sp>
        <p:nvSpPr>
          <p:cNvPr id="376" name="Google Shape;376;p31"/>
          <p:cNvSpPr txBox="1"/>
          <p:nvPr/>
        </p:nvSpPr>
        <p:spPr>
          <a:xfrm>
            <a:off x="719990" y="3309925"/>
            <a:ext cx="3577800" cy="1139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Percent of Children that Earn More than Parents</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Opportunity Insights</a:t>
            </a:r>
            <a:endParaRPr sz="2000">
              <a:solidFill>
                <a:schemeClr val="dk2"/>
              </a:solidFill>
              <a:latin typeface="Quicksand"/>
              <a:ea typeface="Quicksand"/>
              <a:cs typeface="Quicksand"/>
              <a:sym typeface="Quicksand"/>
            </a:endParaRPr>
          </a:p>
        </p:txBody>
      </p:sp>
      <p:sp>
        <p:nvSpPr>
          <p:cNvPr id="377" name="Google Shape;377;p31"/>
          <p:cNvSpPr txBox="1"/>
          <p:nvPr/>
        </p:nvSpPr>
        <p:spPr>
          <a:xfrm>
            <a:off x="4846338" y="3309925"/>
            <a:ext cx="3577800" cy="1139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Savings After Necessary </a:t>
            </a:r>
            <a:br>
              <a:rPr b="1" lang="en" sz="2000">
                <a:solidFill>
                  <a:schemeClr val="dk2"/>
                </a:solidFill>
                <a:latin typeface="Quicksand"/>
                <a:ea typeface="Quicksand"/>
                <a:cs typeface="Quicksand"/>
                <a:sym typeface="Quicksand"/>
              </a:rPr>
            </a:br>
            <a:r>
              <a:rPr b="1" lang="en" sz="2000">
                <a:solidFill>
                  <a:schemeClr val="dk2"/>
                </a:solidFill>
                <a:latin typeface="Quicksand"/>
                <a:ea typeface="Quicksand"/>
                <a:cs typeface="Quicksand"/>
                <a:sym typeface="Quicksand"/>
              </a:rPr>
              <a:t>Expenditures</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FRED</a:t>
            </a:r>
            <a:endParaRPr/>
          </a:p>
        </p:txBody>
      </p:sp>
      <p:sp>
        <p:nvSpPr>
          <p:cNvPr id="378" name="Google Shape;378;p31"/>
          <p:cNvSpPr txBox="1"/>
          <p:nvPr/>
        </p:nvSpPr>
        <p:spPr>
          <a:xfrm>
            <a:off x="6278375" y="2291750"/>
            <a:ext cx="21582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GINI Index</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FRED</a:t>
            </a:r>
            <a:endParaRPr/>
          </a:p>
        </p:txBody>
      </p:sp>
      <p:sp>
        <p:nvSpPr>
          <p:cNvPr id="379" name="Google Shape;379;p31"/>
          <p:cNvSpPr txBox="1"/>
          <p:nvPr/>
        </p:nvSpPr>
        <p:spPr>
          <a:xfrm>
            <a:off x="2803775" y="2167575"/>
            <a:ext cx="3474600" cy="1483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Share of Wealth by Top 1% v.s. Bottom 50%</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FRED</a:t>
            </a:r>
            <a:endParaRPr sz="16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t/>
            </a:r>
            <a:endParaRPr b="1" sz="2000">
              <a:solidFill>
                <a:schemeClr val="dk2"/>
              </a:solidFill>
              <a:latin typeface="Quicksand"/>
              <a:ea typeface="Quicksand"/>
              <a:cs typeface="Quicksand"/>
              <a:sym typeface="Quicksa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2"/>
          <p:cNvSpPr txBox="1"/>
          <p:nvPr>
            <p:ph idx="12" type="sldNum"/>
          </p:nvPr>
        </p:nvSpPr>
        <p:spPr>
          <a:xfrm>
            <a:off x="4297638" y="460002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85" name="Google Shape;385;p32"/>
          <p:cNvPicPr preferRelativeResize="0"/>
          <p:nvPr/>
        </p:nvPicPr>
        <p:blipFill rotWithShape="1">
          <a:blip r:embed="rId3">
            <a:alphaModFix/>
          </a:blip>
          <a:srcRect b="655" l="0" r="0" t="0"/>
          <a:stretch/>
        </p:blipFill>
        <p:spPr>
          <a:xfrm>
            <a:off x="1143000" y="455575"/>
            <a:ext cx="6857999" cy="4204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3"/>
          <p:cNvSpPr txBox="1"/>
          <p:nvPr>
            <p:ph idx="12" type="sldNum"/>
          </p:nvPr>
        </p:nvSpPr>
        <p:spPr>
          <a:xfrm>
            <a:off x="4297638" y="460002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91" name="Google Shape;391;p33"/>
          <p:cNvPicPr preferRelativeResize="0"/>
          <p:nvPr/>
        </p:nvPicPr>
        <p:blipFill>
          <a:blip r:embed="rId3">
            <a:alphaModFix/>
          </a:blip>
          <a:stretch>
            <a:fillRect/>
          </a:stretch>
        </p:blipFill>
        <p:spPr>
          <a:xfrm>
            <a:off x="1143000" y="455567"/>
            <a:ext cx="6857999" cy="423236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id="396" name="Google Shape;396;p34"/>
          <p:cNvPicPr preferRelativeResize="0"/>
          <p:nvPr/>
        </p:nvPicPr>
        <p:blipFill rotWithShape="1">
          <a:blip r:embed="rId3">
            <a:alphaModFix/>
          </a:blip>
          <a:srcRect b="487" l="0" r="0" t="0"/>
          <a:stretch/>
        </p:blipFill>
        <p:spPr>
          <a:xfrm>
            <a:off x="1143000" y="455575"/>
            <a:ext cx="6857999" cy="4211675"/>
          </a:xfrm>
          <a:prstGeom prst="rect">
            <a:avLst/>
          </a:prstGeom>
          <a:noFill/>
          <a:ln>
            <a:noFill/>
          </a:ln>
        </p:spPr>
      </p:pic>
      <p:sp>
        <p:nvSpPr>
          <p:cNvPr id="397" name="Google Shape;397;p34"/>
          <p:cNvSpPr txBox="1"/>
          <p:nvPr>
            <p:ph idx="12" type="sldNum"/>
          </p:nvPr>
        </p:nvSpPr>
        <p:spPr>
          <a:xfrm>
            <a:off x="4297638" y="460002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5"/>
          <p:cNvSpPr txBox="1"/>
          <p:nvPr>
            <p:ph idx="12" type="sldNum"/>
          </p:nvPr>
        </p:nvSpPr>
        <p:spPr>
          <a:xfrm>
            <a:off x="4297638" y="460002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403" name="Google Shape;403;p35"/>
          <p:cNvPicPr preferRelativeResize="0"/>
          <p:nvPr/>
        </p:nvPicPr>
        <p:blipFill>
          <a:blip r:embed="rId3">
            <a:alphaModFix/>
          </a:blip>
          <a:stretch>
            <a:fillRect/>
          </a:stretch>
        </p:blipFill>
        <p:spPr>
          <a:xfrm>
            <a:off x="1143000" y="455567"/>
            <a:ext cx="6857999" cy="423236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6"/>
          <p:cNvSpPr txBox="1"/>
          <p:nvPr>
            <p:ph idx="12" type="sldNum"/>
          </p:nvPr>
        </p:nvSpPr>
        <p:spPr>
          <a:xfrm>
            <a:off x="4297638" y="460002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409" name="Google Shape;409;p36"/>
          <p:cNvPicPr preferRelativeResize="0"/>
          <p:nvPr/>
        </p:nvPicPr>
        <p:blipFill rotWithShape="1">
          <a:blip r:embed="rId3">
            <a:alphaModFix/>
          </a:blip>
          <a:srcRect b="665" l="0" r="0" t="0"/>
          <a:stretch/>
        </p:blipFill>
        <p:spPr>
          <a:xfrm>
            <a:off x="1143000" y="455575"/>
            <a:ext cx="6857999" cy="4204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7"/>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Global </a:t>
            </a:r>
            <a:r>
              <a:rPr lang="en" sz="4200"/>
              <a:t>Data</a:t>
            </a:r>
            <a:endParaRPr sz="4200"/>
          </a:p>
        </p:txBody>
      </p:sp>
      <p:sp>
        <p:nvSpPr>
          <p:cNvPr id="415" name="Google Shape;415;p37"/>
          <p:cNvSpPr txBox="1"/>
          <p:nvPr>
            <p:ph idx="1" type="subTitle"/>
          </p:nvPr>
        </p:nvSpPr>
        <p:spPr>
          <a:xfrm>
            <a:off x="1072000" y="3030600"/>
            <a:ext cx="6999900" cy="44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Modeling and Predicting Impacts on </a:t>
            </a:r>
            <a:r>
              <a:rPr b="1" lang="en"/>
              <a:t>Poverty, Social Mobility, and GDP Per Capita</a:t>
            </a:r>
            <a:endParaRPr b="1"/>
          </a:p>
        </p:txBody>
      </p:sp>
      <p:sp>
        <p:nvSpPr>
          <p:cNvPr id="416" name="Google Shape;416;p37"/>
          <p:cNvSpPr txBox="1"/>
          <p:nvPr>
            <p:ph idx="2" type="title"/>
          </p:nvPr>
        </p:nvSpPr>
        <p:spPr>
          <a:xfrm>
            <a:off x="1959250" y="1854500"/>
            <a:ext cx="1189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17" name="Google Shape;417;p3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418" name="Google Shape;418;p37"/>
          <p:cNvCxnSpPr/>
          <p:nvPr/>
        </p:nvCxnSpPr>
        <p:spPr>
          <a:xfrm flipH="1" rot="10800000">
            <a:off x="1600600" y="2910566"/>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419" name="Google Shape;419;p37"/>
          <p:cNvCxnSpPr/>
          <p:nvPr/>
        </p:nvCxnSpPr>
        <p:spPr>
          <a:xfrm flipH="1" rot="10800000">
            <a:off x="1600600" y="1714341"/>
            <a:ext cx="5942700" cy="6600"/>
          </a:xfrm>
          <a:prstGeom prst="straightConnector1">
            <a:avLst/>
          </a:prstGeom>
          <a:noFill/>
          <a:ln cap="flat" cmpd="sng" w="19050">
            <a:solidFill>
              <a:schemeClr val="lt1"/>
            </a:solidFill>
            <a:prstDash val="solid"/>
            <a:round/>
            <a:headEnd len="med" w="med" type="oval"/>
            <a:tailEnd len="med" w="med" type="oval"/>
          </a:ln>
        </p:spPr>
      </p:cxnSp>
      <p:sp>
        <p:nvSpPr>
          <p:cNvPr id="420" name="Google Shape;420;p37"/>
          <p:cNvSpPr/>
          <p:nvPr/>
        </p:nvSpPr>
        <p:spPr>
          <a:xfrm>
            <a:off x="32448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7"/>
          <p:cNvSpPr/>
          <p:nvPr/>
        </p:nvSpPr>
        <p:spPr>
          <a:xfrm>
            <a:off x="72805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8"/>
          <p:cNvSpPr txBox="1"/>
          <p:nvPr>
            <p:ph type="title"/>
          </p:nvPr>
        </p:nvSpPr>
        <p:spPr>
          <a:xfrm>
            <a:off x="720000" y="569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Global Data</a:t>
            </a:r>
            <a:endParaRPr/>
          </a:p>
        </p:txBody>
      </p:sp>
      <p:sp>
        <p:nvSpPr>
          <p:cNvPr id="427" name="Google Shape;427;p3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428" name="Google Shape;428;p38"/>
          <p:cNvSpPr txBox="1"/>
          <p:nvPr/>
        </p:nvSpPr>
        <p:spPr>
          <a:xfrm>
            <a:off x="5861700" y="3465175"/>
            <a:ext cx="30000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Healthcare Index</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Numbeo</a:t>
            </a:r>
            <a:endParaRPr/>
          </a:p>
        </p:txBody>
      </p:sp>
      <p:sp>
        <p:nvSpPr>
          <p:cNvPr id="429" name="Google Shape;429;p38"/>
          <p:cNvSpPr txBox="1"/>
          <p:nvPr/>
        </p:nvSpPr>
        <p:spPr>
          <a:xfrm>
            <a:off x="374700" y="1467800"/>
            <a:ext cx="20829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Tuition Costs</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N26</a:t>
            </a:r>
            <a:endParaRPr/>
          </a:p>
        </p:txBody>
      </p:sp>
      <p:sp>
        <p:nvSpPr>
          <p:cNvPr id="430" name="Google Shape;430;p38"/>
          <p:cNvSpPr txBox="1"/>
          <p:nvPr/>
        </p:nvSpPr>
        <p:spPr>
          <a:xfrm>
            <a:off x="558845" y="2448800"/>
            <a:ext cx="20829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Social Welfare</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OECD</a:t>
            </a:r>
            <a:endParaRPr/>
          </a:p>
        </p:txBody>
      </p:sp>
      <p:sp>
        <p:nvSpPr>
          <p:cNvPr id="431" name="Google Shape;431;p38"/>
          <p:cNvSpPr txBox="1"/>
          <p:nvPr/>
        </p:nvSpPr>
        <p:spPr>
          <a:xfrm>
            <a:off x="2729838" y="1359588"/>
            <a:ext cx="3684300" cy="1139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Mortgage as % </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of Income</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World Population Review</a:t>
            </a:r>
            <a:endParaRPr/>
          </a:p>
        </p:txBody>
      </p:sp>
      <p:sp>
        <p:nvSpPr>
          <p:cNvPr id="432" name="Google Shape;432;p38"/>
          <p:cNvSpPr txBox="1"/>
          <p:nvPr/>
        </p:nvSpPr>
        <p:spPr>
          <a:xfrm>
            <a:off x="100288" y="3465175"/>
            <a:ext cx="30000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Education Index</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World Population Review</a:t>
            </a:r>
            <a:endParaRPr/>
          </a:p>
        </p:txBody>
      </p:sp>
      <p:sp>
        <p:nvSpPr>
          <p:cNvPr id="433" name="Google Shape;433;p38"/>
          <p:cNvSpPr txBox="1"/>
          <p:nvPr/>
        </p:nvSpPr>
        <p:spPr>
          <a:xfrm>
            <a:off x="2891100" y="3461575"/>
            <a:ext cx="33618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Corruption Perception </a:t>
            </a:r>
            <a:r>
              <a:rPr lang="en" sz="1600">
                <a:solidFill>
                  <a:schemeClr val="dk2"/>
                </a:solidFill>
                <a:latin typeface="Quicksand"/>
                <a:ea typeface="Quicksand"/>
                <a:cs typeface="Quicksand"/>
                <a:sym typeface="Quicksand"/>
              </a:rPr>
              <a:t>Transparency International</a:t>
            </a:r>
            <a:endParaRPr/>
          </a:p>
        </p:txBody>
      </p:sp>
      <p:sp>
        <p:nvSpPr>
          <p:cNvPr id="434" name="Google Shape;434;p38"/>
          <p:cNvSpPr txBox="1"/>
          <p:nvPr/>
        </p:nvSpPr>
        <p:spPr>
          <a:xfrm>
            <a:off x="5968050" y="2447000"/>
            <a:ext cx="27873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Gini Coefficient</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Statista + World Bank</a:t>
            </a:r>
            <a:endParaRPr/>
          </a:p>
        </p:txBody>
      </p:sp>
      <p:sp>
        <p:nvSpPr>
          <p:cNvPr id="435" name="Google Shape;435;p38"/>
          <p:cNvSpPr txBox="1"/>
          <p:nvPr/>
        </p:nvSpPr>
        <p:spPr>
          <a:xfrm>
            <a:off x="3100300" y="2447000"/>
            <a:ext cx="28545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Top 1% Income Share</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Our World In Data</a:t>
            </a:r>
            <a:endParaRPr/>
          </a:p>
        </p:txBody>
      </p:sp>
      <p:sp>
        <p:nvSpPr>
          <p:cNvPr id="436" name="Google Shape;436;p38"/>
          <p:cNvSpPr txBox="1"/>
          <p:nvPr/>
        </p:nvSpPr>
        <p:spPr>
          <a:xfrm>
            <a:off x="5914800" y="1467800"/>
            <a:ext cx="2893800" cy="78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dk2"/>
                </a:solidFill>
                <a:latin typeface="Quicksand"/>
                <a:ea typeface="Quicksand"/>
                <a:cs typeface="Quicksand"/>
                <a:sym typeface="Quicksand"/>
              </a:rPr>
              <a:t>Price to Income Ratio</a:t>
            </a:r>
            <a:endParaRPr b="1" sz="2000">
              <a:solidFill>
                <a:schemeClr val="dk2"/>
              </a:solidFill>
              <a:latin typeface="Quicksand"/>
              <a:ea typeface="Quicksand"/>
              <a:cs typeface="Quicksand"/>
              <a:sym typeface="Quicksand"/>
            </a:endParaRPr>
          </a:p>
          <a:p>
            <a:pPr indent="0" lvl="0" marL="0" rtl="0" algn="ctr">
              <a:lnSpc>
                <a:spcPct val="115000"/>
              </a:lnSpc>
              <a:spcBef>
                <a:spcPts val="0"/>
              </a:spcBef>
              <a:spcAft>
                <a:spcPts val="0"/>
              </a:spcAft>
              <a:buNone/>
            </a:pPr>
            <a:r>
              <a:rPr lang="en" sz="1600">
                <a:solidFill>
                  <a:schemeClr val="dk2"/>
                </a:solidFill>
                <a:latin typeface="Quicksand"/>
                <a:ea typeface="Quicksand"/>
                <a:cs typeface="Quicksand"/>
                <a:sym typeface="Quicksand"/>
              </a:rPr>
              <a:t>World Population Review</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9"/>
          <p:cNvSpPr txBox="1"/>
          <p:nvPr>
            <p:ph type="title"/>
          </p:nvPr>
        </p:nvSpPr>
        <p:spPr>
          <a:xfrm>
            <a:off x="720000" y="5692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Predicted Variables</a:t>
            </a:r>
            <a:endParaRPr/>
          </a:p>
        </p:txBody>
      </p:sp>
      <p:sp>
        <p:nvSpPr>
          <p:cNvPr id="442" name="Google Shape;442;p39"/>
          <p:cNvSpPr txBox="1"/>
          <p:nvPr>
            <p:ph idx="4" type="subTitle"/>
          </p:nvPr>
        </p:nvSpPr>
        <p:spPr>
          <a:xfrm>
            <a:off x="2639550" y="3350400"/>
            <a:ext cx="3864900" cy="3936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t>Social Mobility Index</a:t>
            </a:r>
            <a:endParaRPr sz="2900"/>
          </a:p>
          <a:p>
            <a:pPr indent="0" lvl="0" marL="0" rtl="0" algn="ctr">
              <a:spcBef>
                <a:spcPts val="0"/>
              </a:spcBef>
              <a:spcAft>
                <a:spcPts val="0"/>
              </a:spcAft>
              <a:buNone/>
            </a:pPr>
            <a:r>
              <a:rPr b="0" lang="en" sz="2500"/>
              <a:t>World Economic Forum</a:t>
            </a:r>
            <a:endParaRPr b="0" sz="2500"/>
          </a:p>
        </p:txBody>
      </p:sp>
      <p:sp>
        <p:nvSpPr>
          <p:cNvPr id="443" name="Google Shape;443;p39"/>
          <p:cNvSpPr txBox="1"/>
          <p:nvPr>
            <p:ph idx="5" type="subTitle"/>
          </p:nvPr>
        </p:nvSpPr>
        <p:spPr>
          <a:xfrm>
            <a:off x="720000" y="1768038"/>
            <a:ext cx="3678300" cy="3936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t>GDP Per Capita</a:t>
            </a:r>
            <a:endParaRPr sz="2900"/>
          </a:p>
          <a:p>
            <a:pPr indent="0" lvl="0" marL="0" rtl="0" algn="ctr">
              <a:spcBef>
                <a:spcPts val="0"/>
              </a:spcBef>
              <a:spcAft>
                <a:spcPts val="0"/>
              </a:spcAft>
              <a:buNone/>
            </a:pPr>
            <a:r>
              <a:rPr b="0" lang="en" sz="2500"/>
              <a:t>WorldOMeter</a:t>
            </a:r>
            <a:endParaRPr b="0" sz="2500"/>
          </a:p>
        </p:txBody>
      </p:sp>
      <p:sp>
        <p:nvSpPr>
          <p:cNvPr id="444" name="Google Shape;444;p3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445" name="Google Shape;445;p39"/>
          <p:cNvSpPr txBox="1"/>
          <p:nvPr>
            <p:ph idx="5" type="subTitle"/>
          </p:nvPr>
        </p:nvSpPr>
        <p:spPr>
          <a:xfrm>
            <a:off x="4927950" y="1768050"/>
            <a:ext cx="3678300" cy="3936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t>Poverty Rate</a:t>
            </a:r>
            <a:endParaRPr sz="2900"/>
          </a:p>
          <a:p>
            <a:pPr indent="0" lvl="0" marL="0" rtl="0" algn="ctr">
              <a:spcBef>
                <a:spcPts val="0"/>
              </a:spcBef>
              <a:spcAft>
                <a:spcPts val="0"/>
              </a:spcAft>
              <a:buNone/>
            </a:pPr>
            <a:r>
              <a:rPr b="0" lang="en" sz="2500"/>
              <a:t>OECD</a:t>
            </a:r>
            <a:endParaRPr b="0" sz="2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451" name="Google Shape;451;p40"/>
          <p:cNvPicPr preferRelativeResize="0"/>
          <p:nvPr/>
        </p:nvPicPr>
        <p:blipFill rotWithShape="1">
          <a:blip r:embed="rId3">
            <a:alphaModFix/>
          </a:blip>
          <a:srcRect b="0" l="0" r="0" t="8958"/>
          <a:stretch/>
        </p:blipFill>
        <p:spPr>
          <a:xfrm>
            <a:off x="1186250" y="876925"/>
            <a:ext cx="6588200" cy="3676074"/>
          </a:xfrm>
          <a:prstGeom prst="rect">
            <a:avLst/>
          </a:prstGeom>
          <a:noFill/>
          <a:ln>
            <a:noFill/>
          </a:ln>
        </p:spPr>
      </p:pic>
      <p:sp>
        <p:nvSpPr>
          <p:cNvPr id="452" name="Google Shape;452;p40"/>
          <p:cNvSpPr txBox="1"/>
          <p:nvPr>
            <p:ph type="title"/>
          </p:nvPr>
        </p:nvSpPr>
        <p:spPr>
          <a:xfrm>
            <a:off x="720000" y="3566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Used Countries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1"/>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Model Selection</a:t>
            </a:r>
            <a:endParaRPr sz="3600"/>
          </a:p>
        </p:txBody>
      </p:sp>
      <p:sp>
        <p:nvSpPr>
          <p:cNvPr id="458" name="Google Shape;458;p41"/>
          <p:cNvSpPr txBox="1"/>
          <p:nvPr>
            <p:ph idx="1" type="subTitle"/>
          </p:nvPr>
        </p:nvSpPr>
        <p:spPr>
          <a:xfrm>
            <a:off x="1959250" y="2939075"/>
            <a:ext cx="5225400" cy="44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Choosing </a:t>
            </a:r>
            <a:r>
              <a:rPr b="1" lang="en"/>
              <a:t>Predictive Models </a:t>
            </a:r>
            <a:endParaRPr b="1"/>
          </a:p>
        </p:txBody>
      </p:sp>
      <p:sp>
        <p:nvSpPr>
          <p:cNvPr id="459" name="Google Shape;459;p41"/>
          <p:cNvSpPr txBox="1"/>
          <p:nvPr>
            <p:ph idx="2" type="title"/>
          </p:nvPr>
        </p:nvSpPr>
        <p:spPr>
          <a:xfrm>
            <a:off x="1959250" y="1854500"/>
            <a:ext cx="1189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60" name="Google Shape;460;p4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461" name="Google Shape;461;p41"/>
          <p:cNvCxnSpPr/>
          <p:nvPr/>
        </p:nvCxnSpPr>
        <p:spPr>
          <a:xfrm flipH="1" rot="10800000">
            <a:off x="1600600" y="2910566"/>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462" name="Google Shape;462;p41"/>
          <p:cNvCxnSpPr/>
          <p:nvPr/>
        </p:nvCxnSpPr>
        <p:spPr>
          <a:xfrm flipH="1" rot="10800000">
            <a:off x="1600600" y="1714341"/>
            <a:ext cx="5942700" cy="6600"/>
          </a:xfrm>
          <a:prstGeom prst="straightConnector1">
            <a:avLst/>
          </a:prstGeom>
          <a:noFill/>
          <a:ln cap="flat" cmpd="sng" w="19050">
            <a:solidFill>
              <a:schemeClr val="lt1"/>
            </a:solidFill>
            <a:prstDash val="solid"/>
            <a:round/>
            <a:headEnd len="med" w="med" type="oval"/>
            <a:tailEnd len="med" w="med" type="oval"/>
          </a:ln>
        </p:spPr>
      </p:cxnSp>
      <p:sp>
        <p:nvSpPr>
          <p:cNvPr id="463" name="Google Shape;463;p41"/>
          <p:cNvSpPr/>
          <p:nvPr/>
        </p:nvSpPr>
        <p:spPr>
          <a:xfrm>
            <a:off x="32448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1"/>
          <p:cNvSpPr/>
          <p:nvPr/>
        </p:nvSpPr>
        <p:spPr>
          <a:xfrm>
            <a:off x="72805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Comparing Social Mobility Index Models</a:t>
            </a:r>
            <a:endParaRPr/>
          </a:p>
        </p:txBody>
      </p:sp>
      <p:sp>
        <p:nvSpPr>
          <p:cNvPr id="470" name="Google Shape;470;p42"/>
          <p:cNvSpPr txBox="1"/>
          <p:nvPr/>
        </p:nvSpPr>
        <p:spPr>
          <a:xfrm>
            <a:off x="2017525" y="4075175"/>
            <a:ext cx="15945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2"/>
                </a:solidFill>
                <a:latin typeface="Quicksand"/>
                <a:ea typeface="Quicksand"/>
                <a:cs typeface="Quicksand"/>
                <a:sym typeface="Quicksand"/>
              </a:rPr>
              <a:t>Final Model</a:t>
            </a:r>
            <a:endParaRPr b="1" sz="2000">
              <a:solidFill>
                <a:schemeClr val="dk2"/>
              </a:solidFill>
              <a:latin typeface="Quicksand"/>
              <a:ea typeface="Quicksand"/>
              <a:cs typeface="Quicksand"/>
              <a:sym typeface="Quicksand"/>
            </a:endParaRPr>
          </a:p>
        </p:txBody>
      </p:sp>
      <p:sp>
        <p:nvSpPr>
          <p:cNvPr id="471" name="Google Shape;471;p42"/>
          <p:cNvSpPr txBox="1"/>
          <p:nvPr/>
        </p:nvSpPr>
        <p:spPr>
          <a:xfrm>
            <a:off x="5665563" y="4001925"/>
            <a:ext cx="15945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Quicksand"/>
                <a:ea typeface="Quicksand"/>
                <a:cs typeface="Quicksand"/>
                <a:sym typeface="Quicksand"/>
              </a:rPr>
              <a:t>Other</a:t>
            </a:r>
            <a:endParaRPr b="1" sz="2000">
              <a:solidFill>
                <a:schemeClr val="dk1"/>
              </a:solidFill>
              <a:latin typeface="Quicksand"/>
              <a:ea typeface="Quicksand"/>
              <a:cs typeface="Quicksand"/>
              <a:sym typeface="Quicksand"/>
            </a:endParaRPr>
          </a:p>
        </p:txBody>
      </p:sp>
      <p:sp>
        <p:nvSpPr>
          <p:cNvPr id="472" name="Google Shape;472;p4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473" name="Google Shape;473;p42" title="Chart"/>
          <p:cNvPicPr preferRelativeResize="0"/>
          <p:nvPr/>
        </p:nvPicPr>
        <p:blipFill>
          <a:blip r:embed="rId3">
            <a:alphaModFix/>
          </a:blip>
          <a:stretch>
            <a:fillRect/>
          </a:stretch>
        </p:blipFill>
        <p:spPr>
          <a:xfrm>
            <a:off x="1049350" y="1170125"/>
            <a:ext cx="6398370" cy="290907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Comparing Poverty Rate Models</a:t>
            </a:r>
            <a:endParaRPr/>
          </a:p>
        </p:txBody>
      </p:sp>
      <p:sp>
        <p:nvSpPr>
          <p:cNvPr id="479" name="Google Shape;479;p43"/>
          <p:cNvSpPr txBox="1"/>
          <p:nvPr/>
        </p:nvSpPr>
        <p:spPr>
          <a:xfrm>
            <a:off x="2017525" y="4075175"/>
            <a:ext cx="15945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2"/>
                </a:solidFill>
                <a:latin typeface="Quicksand"/>
                <a:ea typeface="Quicksand"/>
                <a:cs typeface="Quicksand"/>
                <a:sym typeface="Quicksand"/>
              </a:rPr>
              <a:t>Final Model</a:t>
            </a:r>
            <a:endParaRPr b="1" sz="2000">
              <a:solidFill>
                <a:schemeClr val="dk2"/>
              </a:solidFill>
              <a:latin typeface="Quicksand"/>
              <a:ea typeface="Quicksand"/>
              <a:cs typeface="Quicksand"/>
              <a:sym typeface="Quicksand"/>
            </a:endParaRPr>
          </a:p>
        </p:txBody>
      </p:sp>
      <p:sp>
        <p:nvSpPr>
          <p:cNvPr id="480" name="Google Shape;480;p43"/>
          <p:cNvSpPr txBox="1"/>
          <p:nvPr/>
        </p:nvSpPr>
        <p:spPr>
          <a:xfrm>
            <a:off x="5665563" y="4001925"/>
            <a:ext cx="15945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Quicksand"/>
                <a:ea typeface="Quicksand"/>
                <a:cs typeface="Quicksand"/>
                <a:sym typeface="Quicksand"/>
              </a:rPr>
              <a:t>Other</a:t>
            </a:r>
            <a:endParaRPr b="1" sz="2000">
              <a:solidFill>
                <a:schemeClr val="dk1"/>
              </a:solidFill>
              <a:latin typeface="Quicksand"/>
              <a:ea typeface="Quicksand"/>
              <a:cs typeface="Quicksand"/>
              <a:sym typeface="Quicksand"/>
            </a:endParaRPr>
          </a:p>
        </p:txBody>
      </p:sp>
      <p:sp>
        <p:nvSpPr>
          <p:cNvPr id="481" name="Google Shape;481;p4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482" name="Google Shape;482;p43" title="Chart"/>
          <p:cNvPicPr preferRelativeResize="0"/>
          <p:nvPr/>
        </p:nvPicPr>
        <p:blipFill rotWithShape="1">
          <a:blip r:embed="rId3">
            <a:alphaModFix/>
          </a:blip>
          <a:srcRect b="-2393" l="1474" r="-2474" t="-3516"/>
          <a:stretch/>
        </p:blipFill>
        <p:spPr>
          <a:xfrm>
            <a:off x="1143001" y="1094994"/>
            <a:ext cx="6857998" cy="29535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Comparing Log GDP Per Capita Models</a:t>
            </a:r>
            <a:endParaRPr/>
          </a:p>
        </p:txBody>
      </p:sp>
      <p:sp>
        <p:nvSpPr>
          <p:cNvPr id="488" name="Google Shape;488;p44"/>
          <p:cNvSpPr txBox="1"/>
          <p:nvPr/>
        </p:nvSpPr>
        <p:spPr>
          <a:xfrm>
            <a:off x="2017525" y="4075175"/>
            <a:ext cx="15945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2"/>
                </a:solidFill>
                <a:latin typeface="Quicksand"/>
                <a:ea typeface="Quicksand"/>
                <a:cs typeface="Quicksand"/>
                <a:sym typeface="Quicksand"/>
              </a:rPr>
              <a:t>Final Model</a:t>
            </a:r>
            <a:endParaRPr b="1" sz="2000">
              <a:solidFill>
                <a:schemeClr val="dk2"/>
              </a:solidFill>
              <a:latin typeface="Quicksand"/>
              <a:ea typeface="Quicksand"/>
              <a:cs typeface="Quicksand"/>
              <a:sym typeface="Quicksand"/>
            </a:endParaRPr>
          </a:p>
        </p:txBody>
      </p:sp>
      <p:sp>
        <p:nvSpPr>
          <p:cNvPr id="489" name="Google Shape;489;p44"/>
          <p:cNvSpPr txBox="1"/>
          <p:nvPr/>
        </p:nvSpPr>
        <p:spPr>
          <a:xfrm>
            <a:off x="5665563" y="4001925"/>
            <a:ext cx="15945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Quicksand"/>
                <a:ea typeface="Quicksand"/>
                <a:cs typeface="Quicksand"/>
                <a:sym typeface="Quicksand"/>
              </a:rPr>
              <a:t>Other</a:t>
            </a:r>
            <a:endParaRPr b="1" sz="2000">
              <a:solidFill>
                <a:schemeClr val="dk1"/>
              </a:solidFill>
              <a:latin typeface="Quicksand"/>
              <a:ea typeface="Quicksand"/>
              <a:cs typeface="Quicksand"/>
              <a:sym typeface="Quicksand"/>
            </a:endParaRPr>
          </a:p>
        </p:txBody>
      </p:sp>
      <p:sp>
        <p:nvSpPr>
          <p:cNvPr id="490" name="Google Shape;490;p4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491" name="Google Shape;491;p44" title="Chart"/>
          <p:cNvPicPr preferRelativeResize="0"/>
          <p:nvPr/>
        </p:nvPicPr>
        <p:blipFill>
          <a:blip r:embed="rId3">
            <a:alphaModFix/>
          </a:blip>
          <a:stretch>
            <a:fillRect/>
          </a:stretch>
        </p:blipFill>
        <p:spPr>
          <a:xfrm>
            <a:off x="1143001" y="1094994"/>
            <a:ext cx="6857999" cy="29535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5"/>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Final Models</a:t>
            </a:r>
            <a:endParaRPr sz="3600"/>
          </a:p>
        </p:txBody>
      </p:sp>
      <p:sp>
        <p:nvSpPr>
          <p:cNvPr id="497" name="Google Shape;497;p45"/>
          <p:cNvSpPr txBox="1"/>
          <p:nvPr>
            <p:ph idx="1" type="subTitle"/>
          </p:nvPr>
        </p:nvSpPr>
        <p:spPr>
          <a:xfrm>
            <a:off x="1959250" y="2939075"/>
            <a:ext cx="5225400" cy="44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Analysis </a:t>
            </a:r>
            <a:r>
              <a:rPr lang="en"/>
              <a:t>of Our </a:t>
            </a:r>
            <a:r>
              <a:rPr b="1" lang="en"/>
              <a:t>Final Models</a:t>
            </a:r>
            <a:endParaRPr b="1"/>
          </a:p>
          <a:p>
            <a:pPr indent="0" lvl="0" marL="0" rtl="0" algn="l">
              <a:spcBef>
                <a:spcPts val="1600"/>
              </a:spcBef>
              <a:spcAft>
                <a:spcPts val="1600"/>
              </a:spcAft>
              <a:buNone/>
            </a:pPr>
            <a:r>
              <a:t/>
            </a:r>
            <a:endParaRPr/>
          </a:p>
        </p:txBody>
      </p:sp>
      <p:sp>
        <p:nvSpPr>
          <p:cNvPr id="498" name="Google Shape;498;p45"/>
          <p:cNvSpPr txBox="1"/>
          <p:nvPr>
            <p:ph idx="2" type="title"/>
          </p:nvPr>
        </p:nvSpPr>
        <p:spPr>
          <a:xfrm>
            <a:off x="1959250" y="1854500"/>
            <a:ext cx="1189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499" name="Google Shape;499;p4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500" name="Google Shape;500;p45"/>
          <p:cNvCxnSpPr/>
          <p:nvPr/>
        </p:nvCxnSpPr>
        <p:spPr>
          <a:xfrm flipH="1" rot="10800000">
            <a:off x="1600600" y="2910566"/>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501" name="Google Shape;501;p45"/>
          <p:cNvCxnSpPr/>
          <p:nvPr/>
        </p:nvCxnSpPr>
        <p:spPr>
          <a:xfrm flipH="1" rot="10800000">
            <a:off x="1600600" y="1714341"/>
            <a:ext cx="5942700" cy="6600"/>
          </a:xfrm>
          <a:prstGeom prst="straightConnector1">
            <a:avLst/>
          </a:prstGeom>
          <a:noFill/>
          <a:ln cap="flat" cmpd="sng" w="19050">
            <a:solidFill>
              <a:schemeClr val="lt1"/>
            </a:solidFill>
            <a:prstDash val="solid"/>
            <a:round/>
            <a:headEnd len="med" w="med" type="oval"/>
            <a:tailEnd len="med" w="med" type="oval"/>
          </a:ln>
        </p:spPr>
      </p:cxnSp>
      <p:sp>
        <p:nvSpPr>
          <p:cNvPr id="502" name="Google Shape;502;p45"/>
          <p:cNvSpPr/>
          <p:nvPr/>
        </p:nvSpPr>
        <p:spPr>
          <a:xfrm>
            <a:off x="32448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5"/>
          <p:cNvSpPr/>
          <p:nvPr/>
        </p:nvSpPr>
        <p:spPr>
          <a:xfrm>
            <a:off x="72805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6"/>
          <p:cNvSpPr txBox="1"/>
          <p:nvPr>
            <p:ph type="title"/>
          </p:nvPr>
        </p:nvSpPr>
        <p:spPr>
          <a:xfrm>
            <a:off x="463500" y="248000"/>
            <a:ext cx="8217000" cy="6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Social Mobility Index Linear Model</a:t>
            </a:r>
            <a:endParaRPr sz="2500"/>
          </a:p>
        </p:txBody>
      </p:sp>
      <p:sp>
        <p:nvSpPr>
          <p:cNvPr id="509" name="Google Shape;509;p4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21</a:t>
            </a:r>
            <a:endParaRPr/>
          </a:p>
          <a:p>
            <a:pPr indent="0" lvl="0" marL="0" rtl="0" algn="ctr">
              <a:spcBef>
                <a:spcPts val="0"/>
              </a:spcBef>
              <a:spcAft>
                <a:spcPts val="0"/>
              </a:spcAft>
              <a:buNone/>
            </a:pPr>
            <a:r>
              <a:t/>
            </a:r>
            <a:endParaRPr/>
          </a:p>
        </p:txBody>
      </p:sp>
      <p:sp>
        <p:nvSpPr>
          <p:cNvPr id="510" name="Google Shape;510;p46"/>
          <p:cNvSpPr txBox="1"/>
          <p:nvPr/>
        </p:nvSpPr>
        <p:spPr>
          <a:xfrm>
            <a:off x="322525" y="3931920"/>
            <a:ext cx="53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Multiple R-squared:  </a:t>
            </a:r>
            <a:r>
              <a:rPr b="1" lang="en" sz="1200">
                <a:solidFill>
                  <a:srgbClr val="5F8195"/>
                </a:solidFill>
                <a:latin typeface="Quicksand"/>
                <a:ea typeface="Quicksand"/>
                <a:cs typeface="Quicksand"/>
                <a:sym typeface="Quicksand"/>
              </a:rPr>
              <a:t>0.856</a:t>
            </a:r>
            <a:r>
              <a:rPr b="1" lang="en" sz="1200">
                <a:solidFill>
                  <a:schemeClr val="dk2"/>
                </a:solidFill>
                <a:latin typeface="Quicksand"/>
                <a:ea typeface="Quicksand"/>
                <a:cs typeface="Quicksand"/>
                <a:sym typeface="Quicksand"/>
              </a:rPr>
              <a:t>	</a:t>
            </a:r>
            <a:r>
              <a:rPr b="1" lang="en" sz="1200">
                <a:solidFill>
                  <a:srgbClr val="325D79"/>
                </a:solidFill>
                <a:latin typeface="Quicksand"/>
                <a:ea typeface="Quicksand"/>
                <a:cs typeface="Quicksand"/>
                <a:sym typeface="Quicksand"/>
              </a:rPr>
              <a:t>		Adjusted R-squared:  </a:t>
            </a:r>
            <a:r>
              <a:rPr b="1" lang="en" sz="1200">
                <a:solidFill>
                  <a:srgbClr val="5F8195"/>
                </a:solidFill>
                <a:latin typeface="Quicksand"/>
                <a:ea typeface="Quicksand"/>
                <a:cs typeface="Quicksand"/>
                <a:sym typeface="Quicksand"/>
              </a:rPr>
              <a:t>0.831 </a:t>
            </a:r>
            <a:endParaRPr b="1" sz="1200">
              <a:solidFill>
                <a:srgbClr val="5F8195"/>
              </a:solidFill>
              <a:latin typeface="Quicksand"/>
              <a:ea typeface="Quicksand"/>
              <a:cs typeface="Quicksand"/>
              <a:sym typeface="Quicksand"/>
            </a:endParaRPr>
          </a:p>
          <a:p>
            <a:pPr indent="0" lvl="0" marL="0" marR="88900" rtl="0" algn="l">
              <a:lnSpc>
                <a:spcPct val="142857"/>
              </a:lnSpc>
              <a:spcBef>
                <a:spcPts val="0"/>
              </a:spcBef>
              <a:spcAft>
                <a:spcPts val="800"/>
              </a:spcAft>
              <a:buNone/>
            </a:pPr>
            <a:r>
              <a:rPr b="1" lang="en" sz="1200">
                <a:solidFill>
                  <a:srgbClr val="325D79"/>
                </a:solidFill>
                <a:latin typeface="Quicksand"/>
                <a:ea typeface="Quicksand"/>
                <a:cs typeface="Quicksand"/>
                <a:sym typeface="Quicksand"/>
              </a:rPr>
              <a:t>F-statistic: </a:t>
            </a:r>
            <a:r>
              <a:rPr b="1" lang="en" sz="1200">
                <a:solidFill>
                  <a:srgbClr val="5F8195"/>
                </a:solidFill>
                <a:latin typeface="Quicksand"/>
                <a:ea typeface="Quicksand"/>
                <a:cs typeface="Quicksand"/>
                <a:sym typeface="Quicksand"/>
              </a:rPr>
              <a:t>33.67</a:t>
            </a:r>
            <a:r>
              <a:rPr b="1" lang="en" sz="1200">
                <a:solidFill>
                  <a:srgbClr val="5F8195"/>
                </a:solidFill>
                <a:latin typeface="Quicksand"/>
                <a:ea typeface="Quicksand"/>
                <a:cs typeface="Quicksand"/>
                <a:sym typeface="Quicksand"/>
              </a:rPr>
              <a:t> on 3 and 17 DF</a:t>
            </a:r>
            <a:r>
              <a:rPr b="1" lang="en" sz="1200">
                <a:solidFill>
                  <a:srgbClr val="325D79"/>
                </a:solidFill>
                <a:latin typeface="Quicksand"/>
                <a:ea typeface="Quicksand"/>
                <a:cs typeface="Quicksand"/>
                <a:sym typeface="Quicksand"/>
              </a:rPr>
              <a:t>			P-value: </a:t>
            </a:r>
            <a:r>
              <a:rPr b="1" lang="en" sz="1200">
                <a:solidFill>
                  <a:srgbClr val="5F8195"/>
                </a:solidFill>
                <a:latin typeface="Quicksand"/>
                <a:ea typeface="Quicksand"/>
                <a:cs typeface="Quicksand"/>
                <a:sym typeface="Quicksand"/>
              </a:rPr>
              <a:t>0.0000002256</a:t>
            </a:r>
            <a:endParaRPr b="1" sz="1200">
              <a:solidFill>
                <a:srgbClr val="5F8195"/>
              </a:solidFill>
              <a:latin typeface="Quicksand"/>
              <a:ea typeface="Quicksand"/>
              <a:cs typeface="Quicksand"/>
              <a:sym typeface="Quicksand"/>
            </a:endParaRPr>
          </a:p>
        </p:txBody>
      </p:sp>
      <p:graphicFrame>
        <p:nvGraphicFramePr>
          <p:cNvPr id="511" name="Google Shape;511;p46"/>
          <p:cNvGraphicFramePr/>
          <p:nvPr/>
        </p:nvGraphicFramePr>
        <p:xfrm>
          <a:off x="322518" y="1060704"/>
          <a:ext cx="3000000" cy="3000000"/>
        </p:xfrm>
        <a:graphic>
          <a:graphicData uri="http://schemas.openxmlformats.org/drawingml/2006/table">
            <a:tbl>
              <a:tblPr>
                <a:noFill/>
                <a:tableStyleId>{4B986CAE-6DDC-456D-8090-4472AE06F031}</a:tableStyleId>
              </a:tblPr>
              <a:tblGrid>
                <a:gridCol w="1849350"/>
                <a:gridCol w="1032450"/>
                <a:gridCol w="1371075"/>
                <a:gridCol w="1049225"/>
              </a:tblGrid>
              <a:tr h="483425">
                <a:tc>
                  <a:txBody>
                    <a:bodyPr/>
                    <a:lstStyle/>
                    <a:p>
                      <a:pPr indent="0" lvl="0" marL="0" rtl="0" algn="l">
                        <a:spcBef>
                          <a:spcPts val="0"/>
                        </a:spcBef>
                        <a:spcAft>
                          <a:spcPts val="0"/>
                        </a:spcAft>
                        <a:buNone/>
                      </a:pPr>
                      <a:r>
                        <a:t/>
                      </a:r>
                      <a:endParaRPr sz="1100">
                        <a:latin typeface="Mulish Medium"/>
                        <a:ea typeface="Mulish Medium"/>
                        <a:cs typeface="Mulish Medium"/>
                        <a:sym typeface="Mulish Medium"/>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Coefficient</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95% CI</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P-value</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r>
              <a:tr h="601125">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Intercept</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88900" marR="88900" rtl="0" algn="l">
                        <a:lnSpc>
                          <a:spcPct val="142857"/>
                        </a:lnSpc>
                        <a:spcBef>
                          <a:spcPts val="0"/>
                        </a:spcBef>
                        <a:spcAft>
                          <a:spcPts val="800"/>
                        </a:spcAft>
                        <a:buNone/>
                      </a:pPr>
                      <a:r>
                        <a:rPr b="1" lang="en" sz="1100">
                          <a:solidFill>
                            <a:schemeClr val="dk2"/>
                          </a:solidFill>
                          <a:latin typeface="Mulish"/>
                          <a:ea typeface="Mulish"/>
                          <a:cs typeface="Mulish"/>
                          <a:sym typeface="Mulish"/>
                        </a:rPr>
                        <a:t>61.67396</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88900" rtl="0" algn="ctr">
                        <a:lnSpc>
                          <a:spcPct val="142857"/>
                        </a:lnSpc>
                        <a:spcBef>
                          <a:spcPts val="0"/>
                        </a:spcBef>
                        <a:spcAft>
                          <a:spcPts val="800"/>
                        </a:spcAft>
                        <a:buNone/>
                      </a:pPr>
                      <a:r>
                        <a:rPr b="1" lang="en" sz="1100">
                          <a:solidFill>
                            <a:schemeClr val="dk2"/>
                          </a:solidFill>
                          <a:latin typeface="Mulish"/>
                          <a:ea typeface="Mulish"/>
                          <a:cs typeface="Mulish"/>
                          <a:sym typeface="Mulish"/>
                        </a:rPr>
                        <a:t>49.992, 73.356</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88900" marR="88900" rtl="0" algn="l">
                        <a:lnSpc>
                          <a:spcPct val="142857"/>
                        </a:lnSpc>
                        <a:spcBef>
                          <a:spcPts val="0"/>
                        </a:spcBef>
                        <a:spcAft>
                          <a:spcPts val="800"/>
                        </a:spcAft>
                        <a:buNone/>
                      </a:pPr>
                      <a:r>
                        <a:rPr b="1" lang="en" sz="1100">
                          <a:solidFill>
                            <a:schemeClr val="dk2"/>
                          </a:solidFill>
                          <a:latin typeface="Mulish"/>
                          <a:ea typeface="Mulish"/>
                          <a:cs typeface="Mulish"/>
                          <a:sym typeface="Mulish"/>
                        </a:rPr>
                        <a:t>0.00000000312</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chemeClr val="dk2"/>
                      </a:solidFill>
                      <a:prstDash val="solid"/>
                      <a:round/>
                      <a:headEnd len="sm" w="sm" type="none"/>
                      <a:tailEnd len="sm" w="sm" type="none"/>
                    </a:lnB>
                  </a:tcPr>
                </a:tc>
              </a:tr>
              <a:tr h="483425">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Wealth Share Top 1%</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88900" marR="88900" rtl="0" algn="l">
                        <a:lnSpc>
                          <a:spcPct val="142857"/>
                        </a:lnSpc>
                        <a:spcBef>
                          <a:spcPts val="0"/>
                        </a:spcBef>
                        <a:spcAft>
                          <a:spcPts val="800"/>
                        </a:spcAft>
                        <a:buNone/>
                      </a:pPr>
                      <a:r>
                        <a:rPr b="1" lang="en" sz="1100">
                          <a:solidFill>
                            <a:schemeClr val="dk2"/>
                          </a:solidFill>
                          <a:latin typeface="Mulish"/>
                          <a:ea typeface="Mulish"/>
                          <a:cs typeface="Mulish"/>
                          <a:sym typeface="Mulish"/>
                        </a:rPr>
                        <a:t>-0.7033</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88900" rtl="0" algn="ctr">
                        <a:lnSpc>
                          <a:spcPct val="142857"/>
                        </a:lnSpc>
                        <a:spcBef>
                          <a:spcPts val="0"/>
                        </a:spcBef>
                        <a:spcAft>
                          <a:spcPts val="800"/>
                        </a:spcAft>
                        <a:buNone/>
                      </a:pPr>
                      <a:r>
                        <a:rPr b="1" lang="en" sz="1100">
                          <a:solidFill>
                            <a:schemeClr val="dk2"/>
                          </a:solidFill>
                          <a:latin typeface="Mulish"/>
                          <a:ea typeface="Mulish"/>
                          <a:cs typeface="Mulish"/>
                          <a:sym typeface="Mulish"/>
                        </a:rPr>
                        <a:t>-0.922, -0.059</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88900" marR="88900" rtl="0" algn="l">
                        <a:lnSpc>
                          <a:spcPct val="142857"/>
                        </a:lnSpc>
                        <a:spcBef>
                          <a:spcPts val="0"/>
                        </a:spcBef>
                        <a:spcAft>
                          <a:spcPts val="800"/>
                        </a:spcAft>
                        <a:buNone/>
                      </a:pPr>
                      <a:r>
                        <a:rPr b="1" lang="en" sz="1100">
                          <a:solidFill>
                            <a:schemeClr val="dk2"/>
                          </a:solidFill>
                          <a:latin typeface="Mulish"/>
                          <a:ea typeface="Mulish"/>
                          <a:cs typeface="Mulish"/>
                          <a:sym typeface="Mulish"/>
                        </a:rPr>
                        <a:t>0.0284</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7625">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Gini Coefficient</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88900" marR="88900" rtl="0" algn="l">
                        <a:lnSpc>
                          <a:spcPct val="142857"/>
                        </a:lnSpc>
                        <a:spcBef>
                          <a:spcPts val="0"/>
                        </a:spcBef>
                        <a:spcAft>
                          <a:spcPts val="800"/>
                        </a:spcAft>
                        <a:buNone/>
                      </a:pPr>
                      <a:r>
                        <a:rPr b="1" lang="en" sz="1100">
                          <a:solidFill>
                            <a:schemeClr val="dk2"/>
                          </a:solidFill>
                          <a:latin typeface="Mulish"/>
                          <a:ea typeface="Mulish"/>
                          <a:cs typeface="Mulish"/>
                          <a:sym typeface="Mulish"/>
                        </a:rPr>
                        <a:t>0.2004</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88900" rtl="0" algn="ctr">
                        <a:lnSpc>
                          <a:spcPct val="142857"/>
                        </a:lnSpc>
                        <a:spcBef>
                          <a:spcPts val="0"/>
                        </a:spcBef>
                        <a:spcAft>
                          <a:spcPts val="800"/>
                        </a:spcAft>
                        <a:buNone/>
                      </a:pPr>
                      <a:r>
                        <a:rPr b="1" lang="en" sz="1100">
                          <a:solidFill>
                            <a:schemeClr val="dk2"/>
                          </a:solidFill>
                          <a:latin typeface="Mulish"/>
                          <a:ea typeface="Mulish"/>
                          <a:cs typeface="Mulish"/>
                          <a:sym typeface="Mulish"/>
                        </a:rPr>
                        <a:t>-69.035, -1.267</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88900" marR="88900" rtl="0" algn="l">
                        <a:lnSpc>
                          <a:spcPct val="142857"/>
                        </a:lnSpc>
                        <a:spcBef>
                          <a:spcPts val="0"/>
                        </a:spcBef>
                        <a:spcAft>
                          <a:spcPts val="800"/>
                        </a:spcAft>
                        <a:buNone/>
                      </a:pPr>
                      <a:r>
                        <a:rPr b="1" lang="en" sz="1100">
                          <a:solidFill>
                            <a:schemeClr val="dk2"/>
                          </a:solidFill>
                          <a:latin typeface="Mulish"/>
                          <a:ea typeface="Mulish"/>
                          <a:cs typeface="Mulish"/>
                          <a:sym typeface="Mulish"/>
                        </a:rPr>
                        <a:t>0.0429</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7625">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Corruption Perception</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88900" marR="88900" rtl="0" algn="l">
                        <a:lnSpc>
                          <a:spcPct val="142857"/>
                        </a:lnSpc>
                        <a:spcBef>
                          <a:spcPts val="0"/>
                        </a:spcBef>
                        <a:spcAft>
                          <a:spcPts val="800"/>
                        </a:spcAft>
                        <a:buNone/>
                      </a:pPr>
                      <a:r>
                        <a:rPr b="1" lang="en" sz="1100">
                          <a:solidFill>
                            <a:schemeClr val="dk2"/>
                          </a:solidFill>
                          <a:latin typeface="Mulish"/>
                          <a:ea typeface="Mulish"/>
                          <a:cs typeface="Mulish"/>
                          <a:sym typeface="Mulish"/>
                        </a:rPr>
                        <a:t>1.5556</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88900" rtl="0" algn="ctr">
                        <a:lnSpc>
                          <a:spcPct val="142857"/>
                        </a:lnSpc>
                        <a:spcBef>
                          <a:spcPts val="0"/>
                        </a:spcBef>
                        <a:spcAft>
                          <a:spcPts val="800"/>
                        </a:spcAft>
                        <a:buNone/>
                      </a:pPr>
                      <a:r>
                        <a:rPr b="1" lang="en" sz="1100">
                          <a:solidFill>
                            <a:schemeClr val="dk2"/>
                          </a:solidFill>
                          <a:latin typeface="Mulish"/>
                          <a:ea typeface="Mulish"/>
                          <a:cs typeface="Mulish"/>
                          <a:sym typeface="Mulish"/>
                        </a:rPr>
                        <a:t>0.332, 0.541</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88900" marR="88900" rtl="0" algn="l">
                        <a:lnSpc>
                          <a:spcPct val="142857"/>
                        </a:lnSpc>
                        <a:spcBef>
                          <a:spcPts val="0"/>
                        </a:spcBef>
                        <a:spcAft>
                          <a:spcPts val="800"/>
                        </a:spcAft>
                        <a:buNone/>
                      </a:pPr>
                      <a:r>
                        <a:rPr b="1" lang="en" sz="1100">
                          <a:solidFill>
                            <a:schemeClr val="dk2"/>
                          </a:solidFill>
                          <a:latin typeface="Mulish"/>
                          <a:ea typeface="Mulish"/>
                          <a:cs typeface="Mulish"/>
                          <a:sym typeface="Mulish"/>
                        </a:rPr>
                        <a:t>0.007</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cxnSp>
        <p:nvCxnSpPr>
          <p:cNvPr id="512" name="Google Shape;512;p46"/>
          <p:cNvCxnSpPr/>
          <p:nvPr/>
        </p:nvCxnSpPr>
        <p:spPr>
          <a:xfrm>
            <a:off x="5846100" y="914400"/>
            <a:ext cx="0" cy="3734100"/>
          </a:xfrm>
          <a:prstGeom prst="straightConnector1">
            <a:avLst/>
          </a:prstGeom>
          <a:noFill/>
          <a:ln cap="flat" cmpd="sng" w="19050">
            <a:solidFill>
              <a:schemeClr val="lt1"/>
            </a:solidFill>
            <a:prstDash val="solid"/>
            <a:round/>
            <a:headEnd len="med" w="med" type="oval"/>
            <a:tailEnd len="med" w="med" type="oval"/>
          </a:ln>
        </p:spPr>
      </p:cxnSp>
      <p:pic>
        <p:nvPicPr>
          <p:cNvPr id="513" name="Google Shape;513;p46"/>
          <p:cNvPicPr preferRelativeResize="0"/>
          <p:nvPr/>
        </p:nvPicPr>
        <p:blipFill>
          <a:blip r:embed="rId3">
            <a:alphaModFix/>
          </a:blip>
          <a:stretch>
            <a:fillRect/>
          </a:stretch>
        </p:blipFill>
        <p:spPr>
          <a:xfrm>
            <a:off x="6071616" y="2816352"/>
            <a:ext cx="2743199" cy="1692799"/>
          </a:xfrm>
          <a:prstGeom prst="rect">
            <a:avLst/>
          </a:prstGeom>
          <a:noFill/>
          <a:ln>
            <a:noFill/>
          </a:ln>
        </p:spPr>
      </p:pic>
      <p:pic>
        <p:nvPicPr>
          <p:cNvPr id="514" name="Google Shape;514;p46"/>
          <p:cNvPicPr preferRelativeResize="0"/>
          <p:nvPr/>
        </p:nvPicPr>
        <p:blipFill>
          <a:blip r:embed="rId4">
            <a:alphaModFix/>
          </a:blip>
          <a:stretch>
            <a:fillRect/>
          </a:stretch>
        </p:blipFill>
        <p:spPr>
          <a:xfrm>
            <a:off x="6067573" y="914400"/>
            <a:ext cx="2743201" cy="169699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7"/>
          <p:cNvSpPr txBox="1"/>
          <p:nvPr>
            <p:ph type="title"/>
          </p:nvPr>
        </p:nvSpPr>
        <p:spPr>
          <a:xfrm>
            <a:off x="463500" y="248000"/>
            <a:ext cx="8217000" cy="6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Poverty Rate</a:t>
            </a:r>
            <a:r>
              <a:rPr lang="en" sz="2500"/>
              <a:t> Linear Model</a:t>
            </a:r>
            <a:endParaRPr sz="2500"/>
          </a:p>
        </p:txBody>
      </p:sp>
      <p:sp>
        <p:nvSpPr>
          <p:cNvPr id="520" name="Google Shape;520;p4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22</a:t>
            </a:r>
            <a:endParaRPr/>
          </a:p>
          <a:p>
            <a:pPr indent="0" lvl="0" marL="0" rtl="0" algn="ctr">
              <a:spcBef>
                <a:spcPts val="0"/>
              </a:spcBef>
              <a:spcAft>
                <a:spcPts val="0"/>
              </a:spcAft>
              <a:buNone/>
            </a:pPr>
            <a:r>
              <a:t/>
            </a:r>
            <a:endParaRPr/>
          </a:p>
        </p:txBody>
      </p:sp>
      <p:sp>
        <p:nvSpPr>
          <p:cNvPr id="521" name="Google Shape;521;p47"/>
          <p:cNvSpPr txBox="1"/>
          <p:nvPr/>
        </p:nvSpPr>
        <p:spPr>
          <a:xfrm>
            <a:off x="314000" y="3931920"/>
            <a:ext cx="53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Multiple R-squared:  </a:t>
            </a:r>
            <a:r>
              <a:rPr b="1" lang="en" sz="1200">
                <a:solidFill>
                  <a:srgbClr val="5F8195"/>
                </a:solidFill>
                <a:latin typeface="Quicksand"/>
                <a:ea typeface="Quicksand"/>
                <a:cs typeface="Quicksand"/>
                <a:sym typeface="Quicksand"/>
              </a:rPr>
              <a:t>0.5375</a:t>
            </a:r>
            <a:r>
              <a:rPr b="1" lang="en" sz="1200">
                <a:solidFill>
                  <a:schemeClr val="dk2"/>
                </a:solidFill>
                <a:latin typeface="Quicksand"/>
                <a:ea typeface="Quicksand"/>
                <a:cs typeface="Quicksand"/>
                <a:sym typeface="Quicksand"/>
              </a:rPr>
              <a:t>	</a:t>
            </a:r>
            <a:r>
              <a:rPr b="1" lang="en" sz="1200">
                <a:solidFill>
                  <a:srgbClr val="325D79"/>
                </a:solidFill>
                <a:latin typeface="Quicksand"/>
                <a:ea typeface="Quicksand"/>
                <a:cs typeface="Quicksand"/>
                <a:sym typeface="Quicksand"/>
              </a:rPr>
              <a:t>	Adjusted R-squared:  </a:t>
            </a:r>
            <a:r>
              <a:rPr b="1" lang="en" sz="1200">
                <a:solidFill>
                  <a:srgbClr val="5F8195"/>
                </a:solidFill>
                <a:latin typeface="Quicksand"/>
                <a:ea typeface="Quicksand"/>
                <a:cs typeface="Quicksand"/>
                <a:sym typeface="Quicksand"/>
              </a:rPr>
              <a:t>0.4559 </a:t>
            </a:r>
            <a:endParaRPr b="1" sz="1200">
              <a:solidFill>
                <a:srgbClr val="5F8195"/>
              </a:solidFill>
              <a:latin typeface="Quicksand"/>
              <a:ea typeface="Quicksand"/>
              <a:cs typeface="Quicksand"/>
              <a:sym typeface="Quicksand"/>
            </a:endParaRPr>
          </a:p>
          <a:p>
            <a:pPr indent="0" lvl="0" marL="0" marR="88900" rtl="0" algn="l">
              <a:lnSpc>
                <a:spcPct val="142857"/>
              </a:lnSpc>
              <a:spcBef>
                <a:spcPts val="0"/>
              </a:spcBef>
              <a:spcAft>
                <a:spcPts val="800"/>
              </a:spcAft>
              <a:buNone/>
            </a:pPr>
            <a:r>
              <a:rPr b="1" lang="en" sz="1200">
                <a:solidFill>
                  <a:srgbClr val="325D79"/>
                </a:solidFill>
                <a:latin typeface="Quicksand"/>
                <a:ea typeface="Quicksand"/>
                <a:cs typeface="Quicksand"/>
                <a:sym typeface="Quicksand"/>
              </a:rPr>
              <a:t>F-statistic: </a:t>
            </a:r>
            <a:r>
              <a:rPr b="1" lang="en" sz="1200">
                <a:solidFill>
                  <a:srgbClr val="5F8195"/>
                </a:solidFill>
                <a:latin typeface="Quicksand"/>
                <a:ea typeface="Quicksand"/>
                <a:cs typeface="Quicksand"/>
                <a:sym typeface="Quicksand"/>
              </a:rPr>
              <a:t>6.585 on 3 and 17 DF</a:t>
            </a:r>
            <a:r>
              <a:rPr b="1" lang="en" sz="1200">
                <a:solidFill>
                  <a:srgbClr val="325D79"/>
                </a:solidFill>
                <a:latin typeface="Quicksand"/>
                <a:ea typeface="Quicksand"/>
                <a:cs typeface="Quicksand"/>
                <a:sym typeface="Quicksand"/>
              </a:rPr>
              <a:t>	P-value: </a:t>
            </a:r>
            <a:r>
              <a:rPr b="1" lang="en" sz="1200">
                <a:solidFill>
                  <a:srgbClr val="5F8195"/>
                </a:solidFill>
                <a:latin typeface="Quicksand"/>
                <a:ea typeface="Quicksand"/>
                <a:cs typeface="Quicksand"/>
                <a:sym typeface="Quicksand"/>
              </a:rPr>
              <a:t>0.00374</a:t>
            </a:r>
            <a:endParaRPr b="1" sz="1200">
              <a:solidFill>
                <a:srgbClr val="325D79"/>
              </a:solidFill>
              <a:latin typeface="Quicksand"/>
              <a:ea typeface="Quicksand"/>
              <a:cs typeface="Quicksand"/>
              <a:sym typeface="Quicksand"/>
            </a:endParaRPr>
          </a:p>
        </p:txBody>
      </p:sp>
      <p:graphicFrame>
        <p:nvGraphicFramePr>
          <p:cNvPr id="522" name="Google Shape;522;p47"/>
          <p:cNvGraphicFramePr/>
          <p:nvPr/>
        </p:nvGraphicFramePr>
        <p:xfrm>
          <a:off x="320040" y="1056825"/>
          <a:ext cx="3000000" cy="3000000"/>
        </p:xfrm>
        <a:graphic>
          <a:graphicData uri="http://schemas.openxmlformats.org/drawingml/2006/table">
            <a:tbl>
              <a:tblPr>
                <a:noFill/>
                <a:tableStyleId>{4B986CAE-6DDC-456D-8090-4472AE06F031}</a:tableStyleId>
              </a:tblPr>
              <a:tblGrid>
                <a:gridCol w="1845700"/>
                <a:gridCol w="1036700"/>
                <a:gridCol w="1367750"/>
                <a:gridCol w="1053350"/>
              </a:tblGrid>
              <a:tr h="560900">
                <a:tc>
                  <a:txBody>
                    <a:bodyPr/>
                    <a:lstStyle/>
                    <a:p>
                      <a:pPr indent="0" lvl="0" marL="0" rtl="0" algn="l">
                        <a:spcBef>
                          <a:spcPts val="0"/>
                        </a:spcBef>
                        <a:spcAft>
                          <a:spcPts val="0"/>
                        </a:spcAft>
                        <a:buNone/>
                      </a:pPr>
                      <a:r>
                        <a:t/>
                      </a:r>
                      <a:endParaRPr sz="1100">
                        <a:latin typeface="Quicksand Medium"/>
                        <a:ea typeface="Quicksand Medium"/>
                        <a:cs typeface="Quicksand Medium"/>
                        <a:sym typeface="Quicksand Medium"/>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Coefficient</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95% CI</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p-value</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r>
              <a:tr h="529725">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Intercept</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-1.2962</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-12.89, 10.29</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0.8162</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chemeClr val="dk2"/>
                      </a:solidFill>
                      <a:prstDash val="solid"/>
                      <a:round/>
                      <a:headEnd len="sm" w="sm" type="none"/>
                      <a:tailEnd len="sm" w="sm" type="none"/>
                    </a:lnB>
                  </a:tcPr>
                </a:tc>
              </a:tr>
              <a:tr h="529725">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Health Care Index</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0.1697</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0.033,  0.307</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0.018</a:t>
                      </a:r>
                      <a:r>
                        <a:rPr b="1" lang="en" sz="1100">
                          <a:solidFill>
                            <a:schemeClr val="dk2"/>
                          </a:solidFill>
                          <a:latin typeface="Mulish"/>
                          <a:ea typeface="Mulish"/>
                          <a:cs typeface="Mulish"/>
                          <a:sym typeface="Mulish"/>
                        </a:rPr>
                        <a:t>1</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9725">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Wealth Share Top 1%</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0.5566</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0.175,  0.939</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0.0068</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93125">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Welfare Spending % GDP</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-0.2588</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-0.520,  0.002</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0.0518</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cxnSp>
        <p:nvCxnSpPr>
          <p:cNvPr id="523" name="Google Shape;523;p47"/>
          <p:cNvCxnSpPr/>
          <p:nvPr/>
        </p:nvCxnSpPr>
        <p:spPr>
          <a:xfrm>
            <a:off x="5846100" y="914400"/>
            <a:ext cx="0" cy="3734100"/>
          </a:xfrm>
          <a:prstGeom prst="straightConnector1">
            <a:avLst/>
          </a:prstGeom>
          <a:noFill/>
          <a:ln cap="flat" cmpd="sng" w="19050">
            <a:solidFill>
              <a:schemeClr val="lt1"/>
            </a:solidFill>
            <a:prstDash val="solid"/>
            <a:round/>
            <a:headEnd len="med" w="med" type="oval"/>
            <a:tailEnd len="med" w="med" type="oval"/>
          </a:ln>
        </p:spPr>
      </p:cxnSp>
      <p:pic>
        <p:nvPicPr>
          <p:cNvPr id="524" name="Google Shape;524;p47"/>
          <p:cNvPicPr preferRelativeResize="0"/>
          <p:nvPr/>
        </p:nvPicPr>
        <p:blipFill>
          <a:blip r:embed="rId3">
            <a:alphaModFix/>
          </a:blip>
          <a:stretch>
            <a:fillRect/>
          </a:stretch>
        </p:blipFill>
        <p:spPr>
          <a:xfrm>
            <a:off x="6074691" y="914400"/>
            <a:ext cx="2743201" cy="1693628"/>
          </a:xfrm>
          <a:prstGeom prst="rect">
            <a:avLst/>
          </a:prstGeom>
          <a:noFill/>
          <a:ln>
            <a:noFill/>
          </a:ln>
        </p:spPr>
      </p:pic>
      <p:pic>
        <p:nvPicPr>
          <p:cNvPr id="525" name="Google Shape;525;p47"/>
          <p:cNvPicPr preferRelativeResize="0"/>
          <p:nvPr/>
        </p:nvPicPr>
        <p:blipFill>
          <a:blip r:embed="rId4">
            <a:alphaModFix/>
          </a:blip>
          <a:stretch>
            <a:fillRect/>
          </a:stretch>
        </p:blipFill>
        <p:spPr>
          <a:xfrm>
            <a:off x="6071616" y="2816352"/>
            <a:ext cx="2743201" cy="169362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8"/>
          <p:cNvSpPr txBox="1"/>
          <p:nvPr>
            <p:ph type="title"/>
          </p:nvPr>
        </p:nvSpPr>
        <p:spPr>
          <a:xfrm>
            <a:off x="463500" y="248000"/>
            <a:ext cx="8217000" cy="6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Log GDP Per Capita Relaxed LASSO</a:t>
            </a:r>
            <a:endParaRPr sz="2500"/>
          </a:p>
        </p:txBody>
      </p:sp>
      <p:sp>
        <p:nvSpPr>
          <p:cNvPr id="531" name="Google Shape;531;p4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23</a:t>
            </a:r>
            <a:endParaRPr/>
          </a:p>
        </p:txBody>
      </p:sp>
      <p:sp>
        <p:nvSpPr>
          <p:cNvPr id="532" name="Google Shape;532;p48"/>
          <p:cNvSpPr txBox="1"/>
          <p:nvPr/>
        </p:nvSpPr>
        <p:spPr>
          <a:xfrm>
            <a:off x="283487" y="3931920"/>
            <a:ext cx="5367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325D79"/>
                </a:solidFill>
                <a:latin typeface="Quicksand"/>
                <a:ea typeface="Quicksand"/>
                <a:cs typeface="Quicksand"/>
                <a:sym typeface="Quicksand"/>
              </a:rPr>
              <a:t>Multiple R-squared:  </a:t>
            </a:r>
            <a:r>
              <a:rPr b="1" lang="en" sz="1300">
                <a:solidFill>
                  <a:srgbClr val="5F8195"/>
                </a:solidFill>
                <a:latin typeface="Quicksand"/>
                <a:ea typeface="Quicksand"/>
                <a:cs typeface="Quicksand"/>
                <a:sym typeface="Quicksand"/>
              </a:rPr>
              <a:t>0.6201</a:t>
            </a:r>
            <a:r>
              <a:rPr b="1" lang="en" sz="1300">
                <a:solidFill>
                  <a:schemeClr val="dk2"/>
                </a:solidFill>
                <a:latin typeface="Quicksand"/>
                <a:ea typeface="Quicksand"/>
                <a:cs typeface="Quicksand"/>
                <a:sym typeface="Quicksand"/>
              </a:rPr>
              <a:t>	</a:t>
            </a:r>
            <a:r>
              <a:rPr b="1" lang="en" sz="1300">
                <a:solidFill>
                  <a:srgbClr val="325D79"/>
                </a:solidFill>
                <a:latin typeface="Quicksand"/>
                <a:ea typeface="Quicksand"/>
                <a:cs typeface="Quicksand"/>
                <a:sym typeface="Quicksand"/>
              </a:rPr>
              <a:t>	Adjusted R-squared:  </a:t>
            </a:r>
            <a:r>
              <a:rPr b="1" lang="en" sz="1300">
                <a:solidFill>
                  <a:srgbClr val="5F8195"/>
                </a:solidFill>
                <a:latin typeface="Quicksand"/>
                <a:ea typeface="Quicksand"/>
                <a:cs typeface="Quicksand"/>
                <a:sym typeface="Quicksand"/>
              </a:rPr>
              <a:t>0.5977 </a:t>
            </a:r>
            <a:endParaRPr b="1" sz="1300">
              <a:solidFill>
                <a:srgbClr val="5F8195"/>
              </a:solidFill>
              <a:latin typeface="Quicksand"/>
              <a:ea typeface="Quicksand"/>
              <a:cs typeface="Quicksand"/>
              <a:sym typeface="Quicksand"/>
            </a:endParaRPr>
          </a:p>
          <a:p>
            <a:pPr indent="0" lvl="0" marL="0" marR="88900" rtl="0" algn="l">
              <a:lnSpc>
                <a:spcPct val="142857"/>
              </a:lnSpc>
              <a:spcBef>
                <a:spcPts val="0"/>
              </a:spcBef>
              <a:spcAft>
                <a:spcPts val="800"/>
              </a:spcAft>
              <a:buNone/>
            </a:pPr>
            <a:r>
              <a:rPr b="1" lang="en" sz="1300">
                <a:solidFill>
                  <a:srgbClr val="325D79"/>
                </a:solidFill>
                <a:latin typeface="Quicksand"/>
                <a:ea typeface="Quicksand"/>
                <a:cs typeface="Quicksand"/>
                <a:sym typeface="Quicksand"/>
              </a:rPr>
              <a:t>F-statistic: </a:t>
            </a:r>
            <a:r>
              <a:rPr b="1" lang="en" sz="1300">
                <a:solidFill>
                  <a:srgbClr val="5F8195"/>
                </a:solidFill>
                <a:latin typeface="Quicksand"/>
                <a:ea typeface="Quicksand"/>
                <a:cs typeface="Quicksand"/>
                <a:sym typeface="Quicksand"/>
              </a:rPr>
              <a:t>27.75 on 1 and 17 DF</a:t>
            </a:r>
            <a:r>
              <a:rPr b="1" lang="en" sz="1300">
                <a:solidFill>
                  <a:srgbClr val="325D79"/>
                </a:solidFill>
                <a:latin typeface="Quicksand"/>
                <a:ea typeface="Quicksand"/>
                <a:cs typeface="Quicksand"/>
                <a:sym typeface="Quicksand"/>
              </a:rPr>
              <a:t>	P-value: </a:t>
            </a:r>
            <a:r>
              <a:rPr b="1" lang="en" sz="1300">
                <a:solidFill>
                  <a:srgbClr val="5F8195"/>
                </a:solidFill>
                <a:latin typeface="Quicksand"/>
                <a:ea typeface="Quicksand"/>
                <a:cs typeface="Quicksand"/>
                <a:sym typeface="Quicksand"/>
              </a:rPr>
              <a:t>0.00006286</a:t>
            </a:r>
            <a:endParaRPr b="1" sz="1200">
              <a:solidFill>
                <a:srgbClr val="325D79"/>
              </a:solidFill>
              <a:latin typeface="Quicksand"/>
              <a:ea typeface="Quicksand"/>
              <a:cs typeface="Quicksand"/>
              <a:sym typeface="Quicksand"/>
            </a:endParaRPr>
          </a:p>
        </p:txBody>
      </p:sp>
      <p:graphicFrame>
        <p:nvGraphicFramePr>
          <p:cNvPr id="533" name="Google Shape;533;p48"/>
          <p:cNvGraphicFramePr/>
          <p:nvPr/>
        </p:nvGraphicFramePr>
        <p:xfrm>
          <a:off x="320040" y="1056825"/>
          <a:ext cx="3000000" cy="3000000"/>
        </p:xfrm>
        <a:graphic>
          <a:graphicData uri="http://schemas.openxmlformats.org/drawingml/2006/table">
            <a:tbl>
              <a:tblPr>
                <a:noFill/>
                <a:tableStyleId>{4B986CAE-6DDC-456D-8090-4472AE06F031}</a:tableStyleId>
              </a:tblPr>
              <a:tblGrid>
                <a:gridCol w="1850450"/>
                <a:gridCol w="1035250"/>
                <a:gridCol w="1365450"/>
                <a:gridCol w="1055425"/>
              </a:tblGrid>
              <a:tr h="914575">
                <a:tc>
                  <a:txBody>
                    <a:bodyPr/>
                    <a:lstStyle/>
                    <a:p>
                      <a:pPr indent="0" lvl="0" marL="0" rtl="0" algn="l">
                        <a:spcBef>
                          <a:spcPts val="0"/>
                        </a:spcBef>
                        <a:spcAft>
                          <a:spcPts val="0"/>
                        </a:spcAft>
                        <a:buNone/>
                      </a:pPr>
                      <a:r>
                        <a:t/>
                      </a:r>
                      <a:endParaRPr sz="1100">
                        <a:latin typeface="Quicksand Medium"/>
                        <a:ea typeface="Quicksand Medium"/>
                        <a:cs typeface="Quicksand Medium"/>
                        <a:sym typeface="Quicksand Medium"/>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Coefficient</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95% CI</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rgbClr val="325D79"/>
                          </a:solidFill>
                          <a:latin typeface="Quicksand"/>
                          <a:ea typeface="Quicksand"/>
                          <a:cs typeface="Quicksand"/>
                          <a:sym typeface="Quicksand"/>
                        </a:rPr>
                        <a:t>p-value</a:t>
                      </a:r>
                      <a:endParaRPr b="1" sz="12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r>
              <a:tr h="964725">
                <a:tc>
                  <a:txBody>
                    <a:bodyPr/>
                    <a:lstStyle/>
                    <a:p>
                      <a:pPr indent="0" lvl="0" marL="0" rtl="0" algn="l">
                        <a:spcBef>
                          <a:spcPts val="0"/>
                        </a:spcBef>
                        <a:spcAft>
                          <a:spcPts val="0"/>
                        </a:spcAft>
                        <a:buNone/>
                      </a:pPr>
                      <a:r>
                        <a:rPr b="1" lang="en" sz="1100">
                          <a:solidFill>
                            <a:srgbClr val="325D79"/>
                          </a:solidFill>
                          <a:latin typeface="Quicksand"/>
                          <a:ea typeface="Quicksand"/>
                          <a:cs typeface="Quicksand"/>
                          <a:sym typeface="Quicksand"/>
                        </a:rPr>
                        <a:t>Intercept</a:t>
                      </a:r>
                      <a:endParaRPr b="1" sz="11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1.268648</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b="1" lang="en" sz="1100">
                          <a:solidFill>
                            <a:schemeClr val="dk2"/>
                          </a:solidFill>
                          <a:latin typeface="Mulish"/>
                          <a:ea typeface="Mulish"/>
                          <a:cs typeface="Mulish"/>
                          <a:sym typeface="Mulish"/>
                        </a:rPr>
                        <a:t>0.243, 2.294</a:t>
                      </a:r>
                      <a:endParaRPr b="1" sz="12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0.0183</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chemeClr val="dk2"/>
                      </a:solidFill>
                      <a:prstDash val="solid"/>
                      <a:round/>
                      <a:headEnd len="sm" w="sm" type="none"/>
                      <a:tailEnd len="sm" w="sm" type="none"/>
                    </a:lnB>
                  </a:tcPr>
                </a:tc>
              </a:tr>
              <a:tr h="863875">
                <a:tc>
                  <a:txBody>
                    <a:bodyPr/>
                    <a:lstStyle/>
                    <a:p>
                      <a:pPr indent="0" lvl="0" marL="0" rtl="0" algn="l">
                        <a:spcBef>
                          <a:spcPts val="0"/>
                        </a:spcBef>
                        <a:spcAft>
                          <a:spcPts val="0"/>
                        </a:spcAft>
                        <a:buNone/>
                      </a:pPr>
                      <a:r>
                        <a:rPr b="1" lang="en" sz="1100">
                          <a:solidFill>
                            <a:srgbClr val="325D79"/>
                          </a:solidFill>
                          <a:latin typeface="Quicksand"/>
                          <a:ea typeface="Quicksand"/>
                          <a:cs typeface="Quicksand"/>
                          <a:sym typeface="Quicksand"/>
                        </a:rPr>
                        <a:t>Corruption Perception</a:t>
                      </a:r>
                      <a:endParaRPr b="1" sz="1100">
                        <a:solidFill>
                          <a:srgbClr val="325D79"/>
                        </a:solidFill>
                        <a:latin typeface="Quicksand"/>
                        <a:ea typeface="Quicksand"/>
                        <a:cs typeface="Quicksand"/>
                        <a:sym typeface="Quicksand"/>
                      </a:endParaRPr>
                    </a:p>
                  </a:txBody>
                  <a:tcPr marT="91425" marB="91425" marR="91425" marL="91425">
                    <a:lnL cap="flat" cmpd="sng" w="9525">
                      <a:solidFill>
                        <a:srgbClr val="325D79"/>
                      </a:solidFill>
                      <a:prstDash val="solid"/>
                      <a:round/>
                      <a:headEnd len="sm" w="sm" type="none"/>
                      <a:tailEnd len="sm" w="sm" type="none"/>
                    </a:lnL>
                    <a:lnR cap="flat" cmpd="sng" w="9525">
                      <a:solidFill>
                        <a:srgbClr val="325D79"/>
                      </a:solidFill>
                      <a:prstDash val="solid"/>
                      <a:round/>
                      <a:headEnd len="sm" w="sm" type="none"/>
                      <a:tailEnd len="sm" w="sm" type="none"/>
                    </a:lnR>
                    <a:lnT cap="flat" cmpd="sng" w="9525">
                      <a:solidFill>
                        <a:srgbClr val="325D79"/>
                      </a:solidFill>
                      <a:prstDash val="solid"/>
                      <a:round/>
                      <a:headEnd len="sm" w="sm" type="none"/>
                      <a:tailEnd len="sm" w="sm" type="none"/>
                    </a:lnT>
                    <a:lnB cap="flat" cmpd="sng" w="9525">
                      <a:solidFill>
                        <a:srgbClr val="325D79"/>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0.037489</a:t>
                      </a:r>
                      <a:endParaRPr b="1" sz="1100">
                        <a:solidFill>
                          <a:schemeClr val="dk2"/>
                        </a:solidFill>
                        <a:latin typeface="Mulish"/>
                        <a:ea typeface="Mulish"/>
                        <a:cs typeface="Mulish"/>
                        <a:sym typeface="Mulish"/>
                      </a:endParaRPr>
                    </a:p>
                  </a:txBody>
                  <a:tcPr marT="91425" marB="91425" marR="91425" marL="91425">
                    <a:lnL cap="flat" cmpd="sng" w="9525">
                      <a:solidFill>
                        <a:srgbClr val="325D79"/>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b="1" lang="en" sz="1100">
                          <a:solidFill>
                            <a:schemeClr val="dk2"/>
                          </a:solidFill>
                          <a:latin typeface="Mulish"/>
                          <a:ea typeface="Mulish"/>
                          <a:cs typeface="Mulish"/>
                          <a:sym typeface="Mulish"/>
                        </a:rPr>
                        <a:t>0.022, 0.053</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chemeClr val="dk2"/>
                          </a:solidFill>
                          <a:latin typeface="Mulish"/>
                          <a:ea typeface="Mulish"/>
                          <a:cs typeface="Mulish"/>
                          <a:sym typeface="Mulish"/>
                        </a:rPr>
                        <a:t>0.00000629</a:t>
                      </a:r>
                      <a:endParaRPr b="1" sz="1100">
                        <a:solidFill>
                          <a:schemeClr val="dk2"/>
                        </a:solidFill>
                        <a:latin typeface="Mulish"/>
                        <a:ea typeface="Mulish"/>
                        <a:cs typeface="Mulish"/>
                        <a:sym typeface="Mulish"/>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cxnSp>
        <p:nvCxnSpPr>
          <p:cNvPr id="534" name="Google Shape;534;p48"/>
          <p:cNvCxnSpPr/>
          <p:nvPr/>
        </p:nvCxnSpPr>
        <p:spPr>
          <a:xfrm>
            <a:off x="5846100" y="914400"/>
            <a:ext cx="0" cy="3734100"/>
          </a:xfrm>
          <a:prstGeom prst="straightConnector1">
            <a:avLst/>
          </a:prstGeom>
          <a:noFill/>
          <a:ln cap="flat" cmpd="sng" w="19050">
            <a:solidFill>
              <a:schemeClr val="lt1"/>
            </a:solidFill>
            <a:prstDash val="solid"/>
            <a:round/>
            <a:headEnd len="med" w="med" type="oval"/>
            <a:tailEnd len="med" w="med" type="oval"/>
          </a:ln>
        </p:spPr>
      </p:cxnSp>
      <p:pic>
        <p:nvPicPr>
          <p:cNvPr id="535" name="Google Shape;535;p48"/>
          <p:cNvPicPr preferRelativeResize="0"/>
          <p:nvPr/>
        </p:nvPicPr>
        <p:blipFill>
          <a:blip r:embed="rId3">
            <a:alphaModFix/>
          </a:blip>
          <a:stretch>
            <a:fillRect/>
          </a:stretch>
        </p:blipFill>
        <p:spPr>
          <a:xfrm>
            <a:off x="6071616" y="2816352"/>
            <a:ext cx="2743201" cy="1689937"/>
          </a:xfrm>
          <a:prstGeom prst="rect">
            <a:avLst/>
          </a:prstGeom>
          <a:noFill/>
          <a:ln>
            <a:noFill/>
          </a:ln>
        </p:spPr>
      </p:pic>
      <p:pic>
        <p:nvPicPr>
          <p:cNvPr id="536" name="Google Shape;536;p48"/>
          <p:cNvPicPr preferRelativeResize="0"/>
          <p:nvPr/>
        </p:nvPicPr>
        <p:blipFill>
          <a:blip r:embed="rId4">
            <a:alphaModFix/>
          </a:blip>
          <a:stretch>
            <a:fillRect/>
          </a:stretch>
        </p:blipFill>
        <p:spPr>
          <a:xfrm>
            <a:off x="6071626" y="914400"/>
            <a:ext cx="2743201" cy="168993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9"/>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Predictions</a:t>
            </a:r>
            <a:endParaRPr sz="3600"/>
          </a:p>
        </p:txBody>
      </p:sp>
      <p:sp>
        <p:nvSpPr>
          <p:cNvPr id="542" name="Google Shape;542;p49"/>
          <p:cNvSpPr txBox="1"/>
          <p:nvPr>
            <p:ph idx="1" type="subTitle"/>
          </p:nvPr>
        </p:nvSpPr>
        <p:spPr>
          <a:xfrm>
            <a:off x="1959250" y="2939075"/>
            <a:ext cx="5225400" cy="44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Our </a:t>
            </a:r>
            <a:r>
              <a:rPr b="1" lang="en"/>
              <a:t>Predicted Values</a:t>
            </a:r>
            <a:endParaRPr b="1"/>
          </a:p>
        </p:txBody>
      </p:sp>
      <p:sp>
        <p:nvSpPr>
          <p:cNvPr id="543" name="Google Shape;543;p49"/>
          <p:cNvSpPr txBox="1"/>
          <p:nvPr>
            <p:ph idx="2" type="title"/>
          </p:nvPr>
        </p:nvSpPr>
        <p:spPr>
          <a:xfrm>
            <a:off x="1959250" y="1854500"/>
            <a:ext cx="1189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544" name="Google Shape;544;p4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545" name="Google Shape;545;p49"/>
          <p:cNvCxnSpPr/>
          <p:nvPr/>
        </p:nvCxnSpPr>
        <p:spPr>
          <a:xfrm flipH="1" rot="10800000">
            <a:off x="1600600" y="2910566"/>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546" name="Google Shape;546;p49"/>
          <p:cNvCxnSpPr/>
          <p:nvPr/>
        </p:nvCxnSpPr>
        <p:spPr>
          <a:xfrm flipH="1" rot="10800000">
            <a:off x="1600600" y="1714341"/>
            <a:ext cx="5942700" cy="6600"/>
          </a:xfrm>
          <a:prstGeom prst="straightConnector1">
            <a:avLst/>
          </a:prstGeom>
          <a:noFill/>
          <a:ln cap="flat" cmpd="sng" w="19050">
            <a:solidFill>
              <a:schemeClr val="lt1"/>
            </a:solidFill>
            <a:prstDash val="solid"/>
            <a:round/>
            <a:headEnd len="med" w="med" type="oval"/>
            <a:tailEnd len="med" w="med" type="oval"/>
          </a:ln>
        </p:spPr>
      </p:cxnSp>
      <p:sp>
        <p:nvSpPr>
          <p:cNvPr id="547" name="Google Shape;547;p49"/>
          <p:cNvSpPr/>
          <p:nvPr/>
        </p:nvSpPr>
        <p:spPr>
          <a:xfrm>
            <a:off x="32448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9"/>
          <p:cNvSpPr/>
          <p:nvPr/>
        </p:nvSpPr>
        <p:spPr>
          <a:xfrm>
            <a:off x="72805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0"/>
          <p:cNvSpPr txBox="1"/>
          <p:nvPr>
            <p:ph type="title"/>
          </p:nvPr>
        </p:nvSpPr>
        <p:spPr>
          <a:xfrm>
            <a:off x="463500" y="248000"/>
            <a:ext cx="8217000" cy="6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Prediction Data</a:t>
            </a:r>
            <a:endParaRPr sz="2500"/>
          </a:p>
        </p:txBody>
      </p:sp>
      <p:sp>
        <p:nvSpPr>
          <p:cNvPr id="554" name="Google Shape;554;p5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25</a:t>
            </a:r>
            <a:endParaRPr/>
          </a:p>
        </p:txBody>
      </p:sp>
      <p:graphicFrame>
        <p:nvGraphicFramePr>
          <p:cNvPr id="555" name="Google Shape;555;p50"/>
          <p:cNvGraphicFramePr/>
          <p:nvPr/>
        </p:nvGraphicFramePr>
        <p:xfrm>
          <a:off x="425550" y="1288963"/>
          <a:ext cx="3000000" cy="3000000"/>
        </p:xfrm>
        <a:graphic>
          <a:graphicData uri="http://schemas.openxmlformats.org/drawingml/2006/table">
            <a:tbl>
              <a:tblPr>
                <a:noFill/>
                <a:tableStyleId>{4B986CAE-6DDC-456D-8090-4472AE06F031}</a:tableStyleId>
              </a:tblPr>
              <a:tblGrid>
                <a:gridCol w="1904325"/>
                <a:gridCol w="1540250"/>
                <a:gridCol w="1649475"/>
                <a:gridCol w="1613050"/>
                <a:gridCol w="1585775"/>
              </a:tblGrid>
              <a:tr h="358025">
                <a:tc>
                  <a:txBody>
                    <a:bodyPr/>
                    <a:lstStyle/>
                    <a:p>
                      <a:pPr indent="0" lvl="0" marL="0" rtl="0" algn="l">
                        <a:spcBef>
                          <a:spcPts val="0"/>
                        </a:spcBef>
                        <a:spcAft>
                          <a:spcPts val="0"/>
                        </a:spcAft>
                        <a:buNone/>
                      </a:pPr>
                      <a:r>
                        <a:t/>
                      </a:r>
                      <a:endParaRPr b="1" sz="1100">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325D79"/>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solidFill>
                            <a:srgbClr val="325D79"/>
                          </a:solidFill>
                          <a:latin typeface="Quicksand"/>
                          <a:ea typeface="Quicksand"/>
                          <a:cs typeface="Quicksand"/>
                          <a:sym typeface="Quicksand"/>
                        </a:rPr>
                        <a:t>Original</a:t>
                      </a:r>
                      <a:endParaRPr b="1" sz="1200">
                        <a:solidFill>
                          <a:srgbClr val="325D79"/>
                        </a:solidFill>
                        <a:latin typeface="Quicksand"/>
                        <a:ea typeface="Quicksand"/>
                        <a:cs typeface="Quicksand"/>
                        <a:sym typeface="Quicksand"/>
                      </a:endParaRPr>
                    </a:p>
                  </a:txBody>
                  <a:tcPr marT="91425" marB="91425" marR="91425" marL="91425">
                    <a:lnL cap="flat" cmpd="sng" w="7625">
                      <a:solidFill>
                        <a:srgbClr val="325D79"/>
                      </a:solidFill>
                      <a:prstDash val="solid"/>
                      <a:round/>
                      <a:headEnd len="sm" w="sm" type="none"/>
                      <a:tailEnd len="sm" w="sm" type="none"/>
                    </a:lnL>
                    <a:lnR cap="flat" cmpd="sng" w="7625">
                      <a:solidFill>
                        <a:srgbClr val="325D79"/>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solidFill>
                            <a:srgbClr val="325D79"/>
                          </a:solidFill>
                          <a:latin typeface="Quicksand"/>
                          <a:ea typeface="Quicksand"/>
                          <a:cs typeface="Quicksand"/>
                          <a:sym typeface="Quicksand"/>
                        </a:rPr>
                        <a:t>Prediction 1 (Low)</a:t>
                      </a:r>
                      <a:endParaRPr b="1" sz="1200">
                        <a:solidFill>
                          <a:srgbClr val="325D79"/>
                        </a:solidFill>
                        <a:latin typeface="Quicksand"/>
                        <a:ea typeface="Quicksand"/>
                        <a:cs typeface="Quicksand"/>
                        <a:sym typeface="Quicksand"/>
                      </a:endParaRPr>
                    </a:p>
                  </a:txBody>
                  <a:tcPr marT="91425" marB="91425" marR="91425" marL="91425">
                    <a:lnL cap="flat" cmpd="sng" w="7625">
                      <a:solidFill>
                        <a:srgbClr val="325D79"/>
                      </a:solidFill>
                      <a:prstDash val="solid"/>
                      <a:round/>
                      <a:headEnd len="sm" w="sm" type="none"/>
                      <a:tailEnd len="sm" w="sm" type="none"/>
                    </a:lnL>
                    <a:lnR cap="flat" cmpd="sng" w="7625">
                      <a:solidFill>
                        <a:srgbClr val="325D79"/>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solidFill>
                            <a:srgbClr val="325D79"/>
                          </a:solidFill>
                          <a:latin typeface="Quicksand"/>
                          <a:ea typeface="Quicksand"/>
                          <a:cs typeface="Quicksand"/>
                          <a:sym typeface="Quicksand"/>
                        </a:rPr>
                        <a:t>Prediction 2 (Mid)</a:t>
                      </a:r>
                      <a:endParaRPr b="1" sz="1200">
                        <a:solidFill>
                          <a:srgbClr val="325D79"/>
                        </a:solidFill>
                        <a:latin typeface="Quicksand"/>
                        <a:ea typeface="Quicksand"/>
                        <a:cs typeface="Quicksand"/>
                        <a:sym typeface="Quicksand"/>
                      </a:endParaRPr>
                    </a:p>
                  </a:txBody>
                  <a:tcPr marT="91425" marB="91425" marR="91425" marL="91425">
                    <a:lnL cap="flat" cmpd="sng" w="7625">
                      <a:solidFill>
                        <a:srgbClr val="325D79"/>
                      </a:solidFill>
                      <a:prstDash val="solid"/>
                      <a:round/>
                      <a:headEnd len="sm" w="sm" type="none"/>
                      <a:tailEnd len="sm" w="sm" type="none"/>
                    </a:lnL>
                    <a:lnR cap="flat" cmpd="sng" w="7625">
                      <a:solidFill>
                        <a:srgbClr val="325D79"/>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solidFill>
                            <a:srgbClr val="325D79"/>
                          </a:solidFill>
                          <a:latin typeface="Quicksand"/>
                          <a:ea typeface="Quicksand"/>
                          <a:cs typeface="Quicksand"/>
                          <a:sym typeface="Quicksand"/>
                        </a:rPr>
                        <a:t>Prediction 3 (High)</a:t>
                      </a:r>
                      <a:endParaRPr b="1" sz="1200">
                        <a:solidFill>
                          <a:srgbClr val="325D79"/>
                        </a:solidFill>
                        <a:latin typeface="Quicksand"/>
                        <a:ea typeface="Quicksand"/>
                        <a:cs typeface="Quicksand"/>
                        <a:sym typeface="Quicksand"/>
                      </a:endParaRPr>
                    </a:p>
                  </a:txBody>
                  <a:tcPr marT="91425" marB="91425" marR="91425" marL="91425">
                    <a:lnL cap="flat" cmpd="sng" w="7625">
                      <a:solidFill>
                        <a:srgbClr val="325D79"/>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r>
              <a:tr h="479425">
                <a:tc>
                  <a:txBody>
                    <a:bodyPr/>
                    <a:lstStyle/>
                    <a:p>
                      <a:pPr indent="0" lvl="0" marL="0" rtl="0" algn="l">
                        <a:lnSpc>
                          <a:spcPct val="115000"/>
                        </a:lnSpc>
                        <a:spcBef>
                          <a:spcPts val="0"/>
                        </a:spcBef>
                        <a:spcAft>
                          <a:spcPts val="0"/>
                        </a:spcAft>
                        <a:buNone/>
                      </a:pPr>
                      <a:r>
                        <a:rPr b="1" lang="en" sz="1100">
                          <a:solidFill>
                            <a:srgbClr val="325D79"/>
                          </a:solidFill>
                          <a:latin typeface="Mulish"/>
                          <a:ea typeface="Mulish"/>
                          <a:cs typeface="Mulish"/>
                          <a:sym typeface="Mulish"/>
                        </a:rPr>
                        <a:t>Corruption Perception:</a:t>
                      </a:r>
                      <a:endParaRPr b="1" sz="1100">
                        <a:solidFill>
                          <a:srgbClr val="325D79"/>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325D79"/>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69</a:t>
                      </a:r>
                      <a:endParaRPr b="1" sz="1100">
                        <a:solidFill>
                          <a:srgbClr val="809FAF"/>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809FA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58.5</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79.5</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90</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809FAF"/>
                      </a:solidFill>
                      <a:prstDash val="solid"/>
                      <a:round/>
                      <a:headEnd len="sm" w="sm" type="none"/>
                      <a:tailEnd len="sm" w="sm" type="none"/>
                    </a:lnB>
                  </a:tcPr>
                </a:tc>
              </a:tr>
              <a:tr h="346250">
                <a:tc>
                  <a:txBody>
                    <a:bodyPr/>
                    <a:lstStyle/>
                    <a:p>
                      <a:pPr indent="0" lvl="0" marL="0" rtl="0" algn="l">
                        <a:lnSpc>
                          <a:spcPct val="115000"/>
                        </a:lnSpc>
                        <a:spcBef>
                          <a:spcPts val="0"/>
                        </a:spcBef>
                        <a:spcAft>
                          <a:spcPts val="0"/>
                        </a:spcAft>
                        <a:buNone/>
                      </a:pPr>
                      <a:r>
                        <a:rPr b="1" lang="en" sz="1100">
                          <a:solidFill>
                            <a:srgbClr val="325D79"/>
                          </a:solidFill>
                          <a:latin typeface="Mulish"/>
                          <a:ea typeface="Mulish"/>
                          <a:cs typeface="Mulish"/>
                          <a:sym typeface="Mulish"/>
                        </a:rPr>
                        <a:t>Gini Coefficient:</a:t>
                      </a:r>
                      <a:endParaRPr b="1" sz="1100">
                        <a:solidFill>
                          <a:srgbClr val="325D79"/>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325D79"/>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0.41</a:t>
                      </a:r>
                      <a:endParaRPr b="1" sz="1100">
                        <a:solidFill>
                          <a:srgbClr val="809FAF"/>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809FAF"/>
                      </a:solidFill>
                      <a:prstDash val="solid"/>
                      <a:round/>
                      <a:headEnd len="sm" w="sm" type="none"/>
                      <a:tailEnd len="sm" w="sm" type="none"/>
                    </a:lnT>
                    <a:lnB cap="flat" cmpd="sng" w="7625">
                      <a:solidFill>
                        <a:srgbClr val="809FA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0.5</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0.32</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0.23</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809FAF"/>
                      </a:solidFill>
                      <a:prstDash val="solid"/>
                      <a:round/>
                      <a:headEnd len="sm" w="sm" type="none"/>
                      <a:tailEnd len="sm" w="sm" type="none"/>
                    </a:lnT>
                    <a:lnB cap="flat" cmpd="sng" w="7625">
                      <a:solidFill>
                        <a:srgbClr val="809FAF"/>
                      </a:solidFill>
                      <a:prstDash val="solid"/>
                      <a:round/>
                      <a:headEnd len="sm" w="sm" type="none"/>
                      <a:tailEnd len="sm" w="sm" type="none"/>
                    </a:lnB>
                  </a:tcPr>
                </a:tc>
              </a:tr>
              <a:tr h="346250">
                <a:tc>
                  <a:txBody>
                    <a:bodyPr/>
                    <a:lstStyle/>
                    <a:p>
                      <a:pPr indent="0" lvl="0" marL="0" marR="140028" rtl="0" algn="l">
                        <a:lnSpc>
                          <a:spcPct val="115000"/>
                        </a:lnSpc>
                        <a:spcBef>
                          <a:spcPts val="0"/>
                        </a:spcBef>
                        <a:spcAft>
                          <a:spcPts val="0"/>
                        </a:spcAft>
                        <a:buNone/>
                      </a:pPr>
                      <a:r>
                        <a:rPr b="1" lang="en" sz="1100">
                          <a:solidFill>
                            <a:srgbClr val="325D79"/>
                          </a:solidFill>
                          <a:latin typeface="Mulish"/>
                          <a:ea typeface="Mulish"/>
                          <a:cs typeface="Mulish"/>
                          <a:sym typeface="Mulish"/>
                        </a:rPr>
                        <a:t>Health Care Index:</a:t>
                      </a:r>
                      <a:endParaRPr b="1" sz="1100">
                        <a:solidFill>
                          <a:srgbClr val="325D79"/>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325D79"/>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68</a:t>
                      </a:r>
                      <a:endParaRPr b="1" sz="1100">
                        <a:solidFill>
                          <a:srgbClr val="809FAF"/>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809FAF"/>
                      </a:solidFill>
                      <a:prstDash val="solid"/>
                      <a:round/>
                      <a:headEnd len="sm" w="sm" type="none"/>
                      <a:tailEnd len="sm" w="sm" type="none"/>
                    </a:lnT>
                    <a:lnB cap="flat" cmpd="sng" w="7625">
                      <a:solidFill>
                        <a:srgbClr val="809FA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58.8</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77.2</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86.4</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809FAF"/>
                      </a:solidFill>
                      <a:prstDash val="solid"/>
                      <a:round/>
                      <a:headEnd len="sm" w="sm" type="none"/>
                      <a:tailEnd len="sm" w="sm" type="none"/>
                    </a:lnT>
                    <a:lnB cap="flat" cmpd="sng" w="7625">
                      <a:solidFill>
                        <a:srgbClr val="809FAF"/>
                      </a:solidFill>
                      <a:prstDash val="solid"/>
                      <a:round/>
                      <a:headEnd len="sm" w="sm" type="none"/>
                      <a:tailEnd len="sm" w="sm" type="none"/>
                    </a:lnB>
                  </a:tcPr>
                </a:tc>
              </a:tr>
              <a:tr h="346250">
                <a:tc>
                  <a:txBody>
                    <a:bodyPr/>
                    <a:lstStyle/>
                    <a:p>
                      <a:pPr indent="0" lvl="0" marL="0" rtl="0" algn="l">
                        <a:lnSpc>
                          <a:spcPct val="115000"/>
                        </a:lnSpc>
                        <a:spcBef>
                          <a:spcPts val="0"/>
                        </a:spcBef>
                        <a:spcAft>
                          <a:spcPts val="0"/>
                        </a:spcAft>
                        <a:buNone/>
                      </a:pPr>
                      <a:r>
                        <a:rPr b="1" lang="en" sz="1100">
                          <a:solidFill>
                            <a:srgbClr val="325D79"/>
                          </a:solidFill>
                          <a:latin typeface="Mulish"/>
                          <a:ea typeface="Mulish"/>
                          <a:cs typeface="Mulish"/>
                          <a:sym typeface="Mulish"/>
                        </a:rPr>
                        <a:t>Welfare spending % gdp:</a:t>
                      </a:r>
                      <a:endParaRPr b="1" sz="1100">
                        <a:solidFill>
                          <a:srgbClr val="325D79"/>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325D79"/>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18.70%</a:t>
                      </a:r>
                      <a:endParaRPr b="1" sz="1100">
                        <a:solidFill>
                          <a:srgbClr val="809FAF"/>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809FAF"/>
                      </a:solidFill>
                      <a:prstDash val="solid"/>
                      <a:round/>
                      <a:headEnd len="sm" w="sm" type="none"/>
                      <a:tailEnd len="sm" w="sm" type="none"/>
                    </a:lnT>
                    <a:lnB cap="flat" cmpd="sng" w="7625">
                      <a:solidFill>
                        <a:srgbClr val="809FA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12.45%</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0.2495</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31.20%</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809FAF"/>
                      </a:solidFill>
                      <a:prstDash val="solid"/>
                      <a:round/>
                      <a:headEnd len="sm" w="sm" type="none"/>
                      <a:tailEnd len="sm" w="sm" type="none"/>
                    </a:lnT>
                    <a:lnB cap="flat" cmpd="sng" w="7625">
                      <a:solidFill>
                        <a:srgbClr val="809FAF"/>
                      </a:solidFill>
                      <a:prstDash val="solid"/>
                      <a:round/>
                      <a:headEnd len="sm" w="sm" type="none"/>
                      <a:tailEnd len="sm" w="sm" type="none"/>
                    </a:lnB>
                  </a:tcPr>
                </a:tc>
              </a:tr>
              <a:tr h="479425">
                <a:tc>
                  <a:txBody>
                    <a:bodyPr/>
                    <a:lstStyle/>
                    <a:p>
                      <a:pPr indent="0" lvl="0" marL="0" rtl="0" algn="l">
                        <a:lnSpc>
                          <a:spcPct val="115000"/>
                        </a:lnSpc>
                        <a:spcBef>
                          <a:spcPts val="0"/>
                        </a:spcBef>
                        <a:spcAft>
                          <a:spcPts val="0"/>
                        </a:spcAft>
                        <a:buNone/>
                      </a:pPr>
                      <a:r>
                        <a:rPr b="1" lang="en" sz="1100">
                          <a:solidFill>
                            <a:srgbClr val="325D79"/>
                          </a:solidFill>
                          <a:latin typeface="Mulish"/>
                          <a:ea typeface="Mulish"/>
                          <a:cs typeface="Mulish"/>
                          <a:sym typeface="Mulish"/>
                        </a:rPr>
                        <a:t>Income share top 1%:</a:t>
                      </a:r>
                      <a:endParaRPr b="1" sz="1100">
                        <a:solidFill>
                          <a:srgbClr val="325D79"/>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325D79"/>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325D7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20.90%</a:t>
                      </a:r>
                      <a:endParaRPr b="1" sz="1100">
                        <a:solidFill>
                          <a:srgbClr val="809FAF"/>
                        </a:solidFill>
                        <a:latin typeface="Mulish"/>
                        <a:ea typeface="Mulish"/>
                        <a:cs typeface="Mulish"/>
                        <a:sym typeface="Mulish"/>
                      </a:endParaRPr>
                    </a:p>
                  </a:txBody>
                  <a:tcPr marT="91425" marB="91425" marR="91425" marL="91425">
                    <a:lnL cap="flat" cmpd="sng" w="7625">
                      <a:solidFill>
                        <a:srgbClr val="325D79"/>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809FAF"/>
                      </a:solidFill>
                      <a:prstDash val="solid"/>
                      <a:round/>
                      <a:headEnd len="sm" w="sm" type="none"/>
                      <a:tailEnd len="sm" w="sm" type="none"/>
                    </a:lnT>
                    <a:lnB cap="flat" cmpd="sng" w="7625">
                      <a:solidFill>
                        <a:srgbClr val="809FA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27.90%</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809FA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0.139</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325D79"/>
                      </a:solidFill>
                      <a:prstDash val="solid"/>
                      <a:round/>
                      <a:headEnd len="sm" w="sm" type="none"/>
                      <a:tailEnd len="sm" w="sm" type="none"/>
                    </a:lnT>
                    <a:lnB cap="flat" cmpd="sng" w="7625">
                      <a:solidFill>
                        <a:srgbClr val="809FA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809FAF"/>
                          </a:solidFill>
                          <a:latin typeface="Mulish"/>
                          <a:ea typeface="Mulish"/>
                          <a:cs typeface="Mulish"/>
                          <a:sym typeface="Mulish"/>
                        </a:rPr>
                        <a:t>6.90%</a:t>
                      </a:r>
                      <a:endParaRPr b="1" sz="1100">
                        <a:solidFill>
                          <a:srgbClr val="809FAF"/>
                        </a:solidFill>
                        <a:latin typeface="Mulish"/>
                        <a:ea typeface="Mulish"/>
                        <a:cs typeface="Mulish"/>
                        <a:sym typeface="Mulish"/>
                      </a:endParaRPr>
                    </a:p>
                  </a:txBody>
                  <a:tcPr marT="91425" marB="91425" marR="91425" marL="91425">
                    <a:lnL cap="flat" cmpd="sng" w="7625">
                      <a:solidFill>
                        <a:srgbClr val="809FAF"/>
                      </a:solidFill>
                      <a:prstDash val="solid"/>
                      <a:round/>
                      <a:headEnd len="sm" w="sm" type="none"/>
                      <a:tailEnd len="sm" w="sm" type="none"/>
                    </a:lnL>
                    <a:lnR cap="flat" cmpd="sng" w="7625">
                      <a:solidFill>
                        <a:srgbClr val="809FAF"/>
                      </a:solidFill>
                      <a:prstDash val="solid"/>
                      <a:round/>
                      <a:headEnd len="sm" w="sm" type="none"/>
                      <a:tailEnd len="sm" w="sm" type="none"/>
                    </a:lnR>
                    <a:lnT cap="flat" cmpd="sng" w="7625">
                      <a:solidFill>
                        <a:srgbClr val="809FAF"/>
                      </a:solidFill>
                      <a:prstDash val="solid"/>
                      <a:round/>
                      <a:headEnd len="sm" w="sm" type="none"/>
                      <a:tailEnd len="sm" w="sm" type="none"/>
                    </a:lnT>
                    <a:lnB cap="flat" cmpd="sng" w="7625">
                      <a:solidFill>
                        <a:srgbClr val="809FAF"/>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1"/>
          <p:cNvSpPr txBox="1"/>
          <p:nvPr>
            <p:ph type="title"/>
          </p:nvPr>
        </p:nvSpPr>
        <p:spPr>
          <a:xfrm>
            <a:off x="463500" y="303100"/>
            <a:ext cx="8217000" cy="69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Prediction Results</a:t>
            </a:r>
            <a:endParaRPr sz="2500"/>
          </a:p>
        </p:txBody>
      </p:sp>
      <p:sp>
        <p:nvSpPr>
          <p:cNvPr id="561" name="Google Shape;561;p5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26</a:t>
            </a:r>
            <a:endParaRPr/>
          </a:p>
        </p:txBody>
      </p:sp>
      <p:graphicFrame>
        <p:nvGraphicFramePr>
          <p:cNvPr id="562" name="Google Shape;562;p51"/>
          <p:cNvGraphicFramePr/>
          <p:nvPr/>
        </p:nvGraphicFramePr>
        <p:xfrm>
          <a:off x="212525" y="1225113"/>
          <a:ext cx="3000000" cy="3000000"/>
        </p:xfrm>
        <a:graphic>
          <a:graphicData uri="http://schemas.openxmlformats.org/drawingml/2006/table">
            <a:tbl>
              <a:tblPr>
                <a:noFill/>
                <a:tableStyleId>{4B986CAE-6DDC-456D-8090-4472AE06F031}</a:tableStyleId>
              </a:tblPr>
              <a:tblGrid>
                <a:gridCol w="656825"/>
                <a:gridCol w="617800"/>
                <a:gridCol w="608250"/>
                <a:gridCol w="631050"/>
                <a:gridCol w="671025"/>
                <a:gridCol w="697100"/>
                <a:gridCol w="667700"/>
                <a:gridCol w="676475"/>
                <a:gridCol w="778100"/>
                <a:gridCol w="706625"/>
                <a:gridCol w="654725"/>
                <a:gridCol w="665600"/>
                <a:gridCol w="687650"/>
              </a:tblGrid>
              <a:tr h="530100">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Limits</a:t>
                      </a:r>
                      <a:endParaRPr b="1" sz="1300">
                        <a:solidFill>
                          <a:srgbClr val="325D79"/>
                        </a:solidFill>
                        <a:latin typeface="Quicksand"/>
                        <a:ea typeface="Quicksand"/>
                        <a:cs typeface="Quicksand"/>
                        <a:sym typeface="Quicksa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SMI.R</a:t>
                      </a:r>
                      <a:endParaRPr b="1" sz="1300">
                        <a:solidFill>
                          <a:srgbClr val="325D79"/>
                        </a:solidFill>
                        <a:latin typeface="Quicksand"/>
                        <a:ea typeface="Quicksand"/>
                        <a:cs typeface="Quicksand"/>
                        <a:sym typeface="Quicksand"/>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SMI.1</a:t>
                      </a:r>
                      <a:endParaRPr b="1" sz="1300">
                        <a:solidFill>
                          <a:srgbClr val="325D79"/>
                        </a:solidFill>
                        <a:latin typeface="Quicksand"/>
                        <a:ea typeface="Quicksand"/>
                        <a:cs typeface="Quicksand"/>
                        <a:sym typeface="Quicksa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SMI.2</a:t>
                      </a:r>
                      <a:endParaRPr b="1" sz="1300">
                        <a:solidFill>
                          <a:srgbClr val="325D79"/>
                        </a:solidFill>
                        <a:latin typeface="Quicksand"/>
                        <a:ea typeface="Quicksand"/>
                        <a:cs typeface="Quicksand"/>
                        <a:sym typeface="Quicksa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SMI.3</a:t>
                      </a:r>
                      <a:endParaRPr b="1" sz="1300">
                        <a:solidFill>
                          <a:srgbClr val="325D79"/>
                        </a:solidFill>
                        <a:latin typeface="Quicksand"/>
                        <a:ea typeface="Quicksand"/>
                        <a:cs typeface="Quicksand"/>
                        <a:sym typeface="Quicksand"/>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POV.R</a:t>
                      </a:r>
                      <a:endParaRPr b="1" sz="1300">
                        <a:solidFill>
                          <a:srgbClr val="325D79"/>
                        </a:solidFill>
                        <a:latin typeface="Quicksand"/>
                        <a:ea typeface="Quicksand"/>
                        <a:cs typeface="Quicksand"/>
                        <a:sym typeface="Quicksand"/>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POV.1</a:t>
                      </a:r>
                      <a:endParaRPr b="1" sz="1300">
                        <a:solidFill>
                          <a:srgbClr val="325D79"/>
                        </a:solidFill>
                        <a:latin typeface="Quicksand"/>
                        <a:ea typeface="Quicksand"/>
                        <a:cs typeface="Quicksand"/>
                        <a:sym typeface="Quicksa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POV.2</a:t>
                      </a:r>
                      <a:endParaRPr b="1" sz="1300">
                        <a:solidFill>
                          <a:srgbClr val="325D79"/>
                        </a:solidFill>
                        <a:latin typeface="Quicksand"/>
                        <a:ea typeface="Quicksand"/>
                        <a:cs typeface="Quicksand"/>
                        <a:sym typeface="Quicksa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POV.3</a:t>
                      </a:r>
                      <a:endParaRPr b="1" sz="1300">
                        <a:solidFill>
                          <a:srgbClr val="325D79"/>
                        </a:solidFill>
                        <a:latin typeface="Quicksand"/>
                        <a:ea typeface="Quicksand"/>
                        <a:cs typeface="Quicksand"/>
                        <a:sym typeface="Quicksand"/>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21212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GDP.R</a:t>
                      </a:r>
                      <a:endParaRPr b="1" sz="1300">
                        <a:solidFill>
                          <a:srgbClr val="325D79"/>
                        </a:solidFill>
                        <a:latin typeface="Quicksand"/>
                        <a:ea typeface="Quicksand"/>
                        <a:cs typeface="Quicksand"/>
                        <a:sym typeface="Quicksand"/>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GDP.1</a:t>
                      </a:r>
                      <a:endParaRPr b="1" sz="1300">
                        <a:solidFill>
                          <a:srgbClr val="325D79"/>
                        </a:solidFill>
                        <a:latin typeface="Quicksand"/>
                        <a:ea typeface="Quicksand"/>
                        <a:cs typeface="Quicksand"/>
                        <a:sym typeface="Quicksa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GDP.2</a:t>
                      </a:r>
                      <a:endParaRPr b="1" sz="1300">
                        <a:solidFill>
                          <a:srgbClr val="325D79"/>
                        </a:solidFill>
                        <a:latin typeface="Quicksand"/>
                        <a:ea typeface="Quicksand"/>
                        <a:cs typeface="Quicksand"/>
                        <a:sym typeface="Quicksa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GDP.3</a:t>
                      </a:r>
                      <a:endParaRPr b="1" sz="1300">
                        <a:solidFill>
                          <a:srgbClr val="325D79"/>
                        </a:solidFill>
                        <a:latin typeface="Quicksand"/>
                        <a:ea typeface="Quicksand"/>
                        <a:cs typeface="Quicksand"/>
                        <a:sym typeface="Quicksand"/>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710050">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Pred.</a:t>
                      </a:r>
                      <a:endParaRPr b="1" sz="1300">
                        <a:solidFill>
                          <a:srgbClr val="325D79"/>
                        </a:solidFill>
                        <a:latin typeface="Quicksand"/>
                        <a:ea typeface="Quicksand"/>
                        <a:cs typeface="Quicksand"/>
                        <a:sym typeface="Quicksa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70.4</a:t>
                      </a:r>
                      <a:endParaRPr b="1">
                        <a:solidFill>
                          <a:schemeClr val="dk1"/>
                        </a:solidFill>
                        <a:latin typeface="Mulish"/>
                        <a:ea typeface="Mulish"/>
                        <a:cs typeface="Mulish"/>
                        <a:sym typeface="Mulish"/>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55.9</a:t>
                      </a:r>
                      <a:endParaRPr b="1">
                        <a:solidFill>
                          <a:schemeClr val="dk1"/>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78.7</a:t>
                      </a:r>
                      <a:endParaRPr b="1">
                        <a:solidFill>
                          <a:schemeClr val="dk1"/>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89.4</a:t>
                      </a:r>
                      <a:endParaRPr b="1">
                        <a:solidFill>
                          <a:schemeClr val="dk1"/>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15.2</a:t>
                      </a:r>
                      <a:endParaRPr b="1">
                        <a:solidFill>
                          <a:schemeClr val="dk1"/>
                        </a:solidFill>
                        <a:latin typeface="Mulish"/>
                        <a:ea typeface="Mulish"/>
                        <a:cs typeface="Mulish"/>
                        <a:sym typeface="Mulish"/>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21.0</a:t>
                      </a:r>
                      <a:endParaRPr b="1">
                        <a:solidFill>
                          <a:schemeClr val="dk1"/>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14.5</a:t>
                      </a:r>
                      <a:endParaRPr b="1">
                        <a:solidFill>
                          <a:schemeClr val="dk1"/>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9.1</a:t>
                      </a:r>
                      <a:endParaRPr b="1">
                        <a:solidFill>
                          <a:schemeClr val="dk1"/>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75.3</a:t>
                      </a:r>
                      <a:endParaRPr b="1">
                        <a:solidFill>
                          <a:schemeClr val="dk1"/>
                        </a:solidFill>
                        <a:latin typeface="Mulish"/>
                        <a:ea typeface="Mulish"/>
                        <a:cs typeface="Mulish"/>
                        <a:sym typeface="Mulish"/>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31.9</a:t>
                      </a:r>
                      <a:endParaRPr b="1">
                        <a:solidFill>
                          <a:schemeClr val="dk1"/>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70.0</a:t>
                      </a:r>
                      <a:endParaRPr b="1">
                        <a:solidFill>
                          <a:schemeClr val="dk1"/>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1"/>
                          </a:solidFill>
                          <a:latin typeface="Mulish"/>
                          <a:ea typeface="Mulish"/>
                          <a:cs typeface="Mulish"/>
                          <a:sym typeface="Mulish"/>
                        </a:rPr>
                        <a:t>103.8</a:t>
                      </a:r>
                      <a:endParaRPr b="1">
                        <a:solidFill>
                          <a:schemeClr val="dk1"/>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r>
              <a:tr h="728425">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Low.</a:t>
                      </a:r>
                      <a:endParaRPr b="1" sz="1300">
                        <a:solidFill>
                          <a:srgbClr val="325D79"/>
                        </a:solidFill>
                        <a:latin typeface="Quicksand"/>
                        <a:ea typeface="Quicksand"/>
                        <a:cs typeface="Quicksand"/>
                        <a:sym typeface="Quicksa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X</a:t>
                      </a:r>
                      <a:endParaRPr b="1">
                        <a:solidFill>
                          <a:schemeClr val="dk2"/>
                        </a:solidFill>
                        <a:latin typeface="Mulish"/>
                        <a:ea typeface="Mulish"/>
                        <a:cs typeface="Mulish"/>
                        <a:sym typeface="Mulish"/>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49.8</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75.4</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85.7</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X</a:t>
                      </a:r>
                      <a:endParaRPr b="1">
                        <a:solidFill>
                          <a:schemeClr val="dk2"/>
                        </a:solidFill>
                        <a:latin typeface="Mulish"/>
                        <a:ea typeface="Mulish"/>
                        <a:cs typeface="Mulish"/>
                        <a:sym typeface="Mulish"/>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14.8</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10.48</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5.9</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X</a:t>
                      </a:r>
                      <a:endParaRPr b="1">
                        <a:solidFill>
                          <a:schemeClr val="dk2"/>
                        </a:solidFill>
                        <a:latin typeface="Mulish"/>
                        <a:ea typeface="Mulish"/>
                        <a:cs typeface="Mulish"/>
                        <a:sym typeface="Mulish"/>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25.6</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54.4</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70.8</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24675">
                <a:tc>
                  <a:txBody>
                    <a:bodyPr/>
                    <a:lstStyle/>
                    <a:p>
                      <a:pPr indent="0" lvl="0" marL="0" rtl="0" algn="ctr">
                        <a:spcBef>
                          <a:spcPts val="0"/>
                        </a:spcBef>
                        <a:spcAft>
                          <a:spcPts val="0"/>
                        </a:spcAft>
                        <a:buNone/>
                      </a:pPr>
                      <a:r>
                        <a:rPr b="1" lang="en" sz="1300">
                          <a:solidFill>
                            <a:srgbClr val="325D79"/>
                          </a:solidFill>
                          <a:latin typeface="Quicksand"/>
                          <a:ea typeface="Quicksand"/>
                          <a:cs typeface="Quicksand"/>
                          <a:sym typeface="Quicksand"/>
                        </a:rPr>
                        <a:t>Upp.</a:t>
                      </a:r>
                      <a:endParaRPr b="1" sz="1300">
                        <a:solidFill>
                          <a:srgbClr val="325D79"/>
                        </a:solidFill>
                        <a:latin typeface="Quicksand"/>
                        <a:ea typeface="Quicksand"/>
                        <a:cs typeface="Quicksand"/>
                        <a:sym typeface="Quicksa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X</a:t>
                      </a:r>
                      <a:endParaRPr b="1">
                        <a:solidFill>
                          <a:schemeClr val="dk2"/>
                        </a:solidFill>
                        <a:latin typeface="Mulish"/>
                        <a:ea typeface="Mulish"/>
                        <a:cs typeface="Mulish"/>
                        <a:sym typeface="Mulish"/>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62.1</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82.1</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93.3</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X</a:t>
                      </a:r>
                      <a:endParaRPr b="1">
                        <a:solidFill>
                          <a:schemeClr val="dk2"/>
                        </a:solidFill>
                        <a:latin typeface="Mulish"/>
                        <a:ea typeface="Mulish"/>
                        <a:cs typeface="Mulish"/>
                        <a:sym typeface="Mulish"/>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25.6</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13.3</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12.4</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X</a:t>
                      </a:r>
                      <a:endParaRPr b="1">
                        <a:solidFill>
                          <a:schemeClr val="dk2"/>
                        </a:solidFill>
                        <a:latin typeface="Mulish"/>
                        <a:ea typeface="Mulish"/>
                        <a:cs typeface="Mulish"/>
                        <a:sym typeface="Mulish"/>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39.6</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90.1</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Mulish"/>
                          <a:ea typeface="Mulish"/>
                          <a:cs typeface="Mulish"/>
                          <a:sym typeface="Mulish"/>
                        </a:rPr>
                        <a:t>152.1</a:t>
                      </a:r>
                      <a:endParaRPr b="1">
                        <a:solidFill>
                          <a:schemeClr val="dk2"/>
                        </a:solidFill>
                        <a:latin typeface="Mulish"/>
                        <a:ea typeface="Mulish"/>
                        <a:cs typeface="Mulish"/>
                        <a:sym typeface="Mulish"/>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2"/>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Discussion</a:t>
            </a:r>
            <a:endParaRPr sz="3600"/>
          </a:p>
        </p:txBody>
      </p:sp>
      <p:sp>
        <p:nvSpPr>
          <p:cNvPr id="568" name="Google Shape;568;p52"/>
          <p:cNvSpPr txBox="1"/>
          <p:nvPr>
            <p:ph idx="1" type="subTitle"/>
          </p:nvPr>
        </p:nvSpPr>
        <p:spPr>
          <a:xfrm>
            <a:off x="1959250" y="2939075"/>
            <a:ext cx="5225400" cy="44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b="1" lang="en"/>
              <a:t>Suggestions &amp; Potential Policies</a:t>
            </a:r>
            <a:endParaRPr b="1"/>
          </a:p>
        </p:txBody>
      </p:sp>
      <p:sp>
        <p:nvSpPr>
          <p:cNvPr id="569" name="Google Shape;569;p52"/>
          <p:cNvSpPr txBox="1"/>
          <p:nvPr>
            <p:ph idx="2" type="title"/>
          </p:nvPr>
        </p:nvSpPr>
        <p:spPr>
          <a:xfrm>
            <a:off x="1959250" y="1854500"/>
            <a:ext cx="1189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570" name="Google Shape;570;p5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571" name="Google Shape;571;p52"/>
          <p:cNvCxnSpPr/>
          <p:nvPr/>
        </p:nvCxnSpPr>
        <p:spPr>
          <a:xfrm flipH="1" rot="10800000">
            <a:off x="1600600" y="2910566"/>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572" name="Google Shape;572;p52"/>
          <p:cNvCxnSpPr/>
          <p:nvPr/>
        </p:nvCxnSpPr>
        <p:spPr>
          <a:xfrm flipH="1" rot="10800000">
            <a:off x="1600600" y="1714341"/>
            <a:ext cx="5942700" cy="6600"/>
          </a:xfrm>
          <a:prstGeom prst="straightConnector1">
            <a:avLst/>
          </a:prstGeom>
          <a:noFill/>
          <a:ln cap="flat" cmpd="sng" w="19050">
            <a:solidFill>
              <a:schemeClr val="lt1"/>
            </a:solidFill>
            <a:prstDash val="solid"/>
            <a:round/>
            <a:headEnd len="med" w="med" type="oval"/>
            <a:tailEnd len="med" w="med" type="oval"/>
          </a:ln>
        </p:spPr>
      </p:cxnSp>
      <p:sp>
        <p:nvSpPr>
          <p:cNvPr id="573" name="Google Shape;573;p52"/>
          <p:cNvSpPr/>
          <p:nvPr/>
        </p:nvSpPr>
        <p:spPr>
          <a:xfrm>
            <a:off x="32448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2"/>
          <p:cNvSpPr/>
          <p:nvPr/>
        </p:nvSpPr>
        <p:spPr>
          <a:xfrm>
            <a:off x="72805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3"/>
          <p:cNvSpPr txBox="1"/>
          <p:nvPr>
            <p:ph type="title"/>
          </p:nvPr>
        </p:nvSpPr>
        <p:spPr>
          <a:xfrm>
            <a:off x="634950" y="485950"/>
            <a:ext cx="4398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Can We Improve?</a:t>
            </a:r>
            <a:endParaRPr/>
          </a:p>
        </p:txBody>
      </p:sp>
      <p:sp>
        <p:nvSpPr>
          <p:cNvPr id="580" name="Google Shape;580;p5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581" name="Google Shape;581;p53"/>
          <p:cNvCxnSpPr/>
          <p:nvPr/>
        </p:nvCxnSpPr>
        <p:spPr>
          <a:xfrm>
            <a:off x="4588138" y="1373663"/>
            <a:ext cx="0" cy="3004200"/>
          </a:xfrm>
          <a:prstGeom prst="straightConnector1">
            <a:avLst/>
          </a:prstGeom>
          <a:noFill/>
          <a:ln cap="flat" cmpd="sng" w="19050">
            <a:solidFill>
              <a:schemeClr val="lt1"/>
            </a:solidFill>
            <a:prstDash val="solid"/>
            <a:round/>
            <a:headEnd len="med" w="med" type="oval"/>
            <a:tailEnd len="med" w="med" type="oval"/>
          </a:ln>
        </p:spPr>
      </p:cxnSp>
      <p:sp>
        <p:nvSpPr>
          <p:cNvPr id="582" name="Google Shape;582;p53"/>
          <p:cNvSpPr txBox="1"/>
          <p:nvPr/>
        </p:nvSpPr>
        <p:spPr>
          <a:xfrm>
            <a:off x="1140750" y="2978675"/>
            <a:ext cx="3014700" cy="356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500">
                <a:solidFill>
                  <a:schemeClr val="dk1"/>
                </a:solidFill>
                <a:latin typeface="Quicksand"/>
                <a:ea typeface="Quicksand"/>
                <a:cs typeface="Quicksand"/>
                <a:sym typeface="Quicksand"/>
              </a:rPr>
              <a:t>Welfare Spending as % of GDP</a:t>
            </a:r>
            <a:endParaRPr b="1" sz="1500">
              <a:solidFill>
                <a:schemeClr val="dk1"/>
              </a:solidFill>
              <a:latin typeface="Quicksand"/>
              <a:ea typeface="Quicksand"/>
              <a:cs typeface="Quicksand"/>
              <a:sym typeface="Quicksand"/>
            </a:endParaRPr>
          </a:p>
        </p:txBody>
      </p:sp>
      <p:sp>
        <p:nvSpPr>
          <p:cNvPr id="583" name="Google Shape;583;p53"/>
          <p:cNvSpPr txBox="1"/>
          <p:nvPr/>
        </p:nvSpPr>
        <p:spPr>
          <a:xfrm>
            <a:off x="1813800" y="3387913"/>
            <a:ext cx="2557200" cy="1025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Minimize social stigma and administrative hassle</a:t>
            </a:r>
            <a:endParaRPr sz="1200">
              <a:solidFill>
                <a:schemeClr val="dk1"/>
              </a:solidFill>
              <a:latin typeface="Mulish"/>
              <a:ea typeface="Mulish"/>
              <a:cs typeface="Mulish"/>
              <a:sym typeface="Mulish"/>
            </a:endParaRPr>
          </a:p>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Divert funding in budget</a:t>
            </a:r>
            <a:endParaRPr sz="1200">
              <a:solidFill>
                <a:schemeClr val="dk1"/>
              </a:solidFill>
              <a:latin typeface="Mulish"/>
              <a:ea typeface="Mulish"/>
              <a:cs typeface="Mulish"/>
              <a:sym typeface="Mulish"/>
            </a:endParaRPr>
          </a:p>
        </p:txBody>
      </p:sp>
      <p:sp>
        <p:nvSpPr>
          <p:cNvPr id="584" name="Google Shape;584;p53"/>
          <p:cNvSpPr txBox="1"/>
          <p:nvPr/>
        </p:nvSpPr>
        <p:spPr>
          <a:xfrm>
            <a:off x="4730050" y="2978663"/>
            <a:ext cx="2365500" cy="356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500">
                <a:solidFill>
                  <a:schemeClr val="dk1"/>
                </a:solidFill>
                <a:latin typeface="Quicksand"/>
                <a:ea typeface="Quicksand"/>
                <a:cs typeface="Quicksand"/>
                <a:sym typeface="Quicksand"/>
              </a:rPr>
              <a:t>Corruption Perception</a:t>
            </a:r>
            <a:endParaRPr b="1" sz="1500">
              <a:solidFill>
                <a:schemeClr val="dk1"/>
              </a:solidFill>
              <a:latin typeface="Quicksand"/>
              <a:ea typeface="Quicksand"/>
              <a:cs typeface="Quicksand"/>
              <a:sym typeface="Quicksand"/>
            </a:endParaRPr>
          </a:p>
        </p:txBody>
      </p:sp>
      <p:sp>
        <p:nvSpPr>
          <p:cNvPr id="585" name="Google Shape;585;p53"/>
          <p:cNvSpPr txBox="1"/>
          <p:nvPr/>
        </p:nvSpPr>
        <p:spPr>
          <a:xfrm>
            <a:off x="4805300" y="3387925"/>
            <a:ext cx="3693000" cy="1025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Full transparency for public discussion</a:t>
            </a:r>
            <a:endParaRPr sz="1200">
              <a:solidFill>
                <a:schemeClr val="dk1"/>
              </a:solidFill>
              <a:latin typeface="Mulish"/>
              <a:ea typeface="Mulish"/>
              <a:cs typeface="Mulish"/>
              <a:sym typeface="Mulish"/>
            </a:endParaRPr>
          </a:p>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Institutional reform</a:t>
            </a:r>
            <a:endParaRPr sz="1200">
              <a:solidFill>
                <a:schemeClr val="dk1"/>
              </a:solidFill>
              <a:latin typeface="Mulish"/>
              <a:ea typeface="Mulish"/>
              <a:cs typeface="Mulish"/>
              <a:sym typeface="Mulish"/>
            </a:endParaRPr>
          </a:p>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Openness regarding spending &amp; lobbying</a:t>
            </a:r>
            <a:endParaRPr sz="1200">
              <a:solidFill>
                <a:schemeClr val="dk1"/>
              </a:solidFill>
              <a:latin typeface="Mulish"/>
              <a:ea typeface="Mulish"/>
              <a:cs typeface="Mulish"/>
              <a:sym typeface="Mulish"/>
            </a:endParaRPr>
          </a:p>
        </p:txBody>
      </p:sp>
      <p:sp>
        <p:nvSpPr>
          <p:cNvPr id="586" name="Google Shape;586;p53"/>
          <p:cNvSpPr txBox="1"/>
          <p:nvPr/>
        </p:nvSpPr>
        <p:spPr>
          <a:xfrm>
            <a:off x="1813800" y="1373675"/>
            <a:ext cx="2365500" cy="356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500">
                <a:solidFill>
                  <a:schemeClr val="dk1"/>
                </a:solidFill>
                <a:latin typeface="Quicksand"/>
                <a:ea typeface="Quicksand"/>
                <a:cs typeface="Quicksand"/>
                <a:sym typeface="Quicksand"/>
              </a:rPr>
              <a:t>Healthcare</a:t>
            </a:r>
            <a:endParaRPr b="1" sz="1500">
              <a:solidFill>
                <a:schemeClr val="dk1"/>
              </a:solidFill>
              <a:latin typeface="Quicksand"/>
              <a:ea typeface="Quicksand"/>
              <a:cs typeface="Quicksand"/>
              <a:sym typeface="Quicksand"/>
            </a:endParaRPr>
          </a:p>
        </p:txBody>
      </p:sp>
      <p:sp>
        <p:nvSpPr>
          <p:cNvPr id="587" name="Google Shape;587;p53"/>
          <p:cNvSpPr txBox="1"/>
          <p:nvPr/>
        </p:nvSpPr>
        <p:spPr>
          <a:xfrm>
            <a:off x="1460500" y="1730400"/>
            <a:ext cx="2903700" cy="1025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Increased Funding &amp; government assistance</a:t>
            </a:r>
            <a:endParaRPr sz="1200">
              <a:solidFill>
                <a:schemeClr val="dk1"/>
              </a:solidFill>
              <a:latin typeface="Mulish"/>
              <a:ea typeface="Mulish"/>
              <a:cs typeface="Mulish"/>
              <a:sym typeface="Mulish"/>
            </a:endParaRPr>
          </a:p>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Lower Costs for easier access</a:t>
            </a:r>
            <a:endParaRPr sz="1200">
              <a:solidFill>
                <a:schemeClr val="dk1"/>
              </a:solidFill>
              <a:latin typeface="Mulish"/>
              <a:ea typeface="Mulish"/>
              <a:cs typeface="Mulish"/>
              <a:sym typeface="Mulish"/>
            </a:endParaRPr>
          </a:p>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Less p</a:t>
            </a:r>
            <a:r>
              <a:rPr lang="en" sz="1200">
                <a:solidFill>
                  <a:schemeClr val="dk1"/>
                </a:solidFill>
                <a:latin typeface="Mulish"/>
                <a:ea typeface="Mulish"/>
                <a:cs typeface="Mulish"/>
                <a:sym typeface="Mulish"/>
              </a:rPr>
              <a:t>rivatization</a:t>
            </a:r>
            <a:r>
              <a:rPr lang="en" sz="1200">
                <a:solidFill>
                  <a:schemeClr val="dk1"/>
                </a:solidFill>
                <a:latin typeface="Mulish"/>
                <a:ea typeface="Mulish"/>
                <a:cs typeface="Mulish"/>
                <a:sym typeface="Mulish"/>
              </a:rPr>
              <a:t> and caps on p</a:t>
            </a:r>
            <a:r>
              <a:rPr lang="en" sz="1200">
                <a:solidFill>
                  <a:schemeClr val="dk1"/>
                </a:solidFill>
                <a:latin typeface="Mulish"/>
                <a:ea typeface="Mulish"/>
                <a:cs typeface="Mulish"/>
                <a:sym typeface="Mulish"/>
              </a:rPr>
              <a:t>harmaceuticals</a:t>
            </a:r>
            <a:endParaRPr sz="1200">
              <a:solidFill>
                <a:schemeClr val="dk1"/>
              </a:solidFill>
              <a:latin typeface="Mulish"/>
              <a:ea typeface="Mulish"/>
              <a:cs typeface="Mulish"/>
              <a:sym typeface="Mulish"/>
            </a:endParaRPr>
          </a:p>
        </p:txBody>
      </p:sp>
      <p:sp>
        <p:nvSpPr>
          <p:cNvPr id="588" name="Google Shape;588;p53"/>
          <p:cNvSpPr txBox="1"/>
          <p:nvPr/>
        </p:nvSpPr>
        <p:spPr>
          <a:xfrm>
            <a:off x="4812225" y="1373675"/>
            <a:ext cx="3276900" cy="356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500">
                <a:solidFill>
                  <a:schemeClr val="dk1"/>
                </a:solidFill>
                <a:latin typeface="Quicksand"/>
                <a:ea typeface="Quicksand"/>
                <a:cs typeface="Quicksand"/>
                <a:sym typeface="Quicksand"/>
              </a:rPr>
              <a:t>Income Share of 1% / GINI </a:t>
            </a:r>
            <a:endParaRPr b="1" sz="1500">
              <a:solidFill>
                <a:schemeClr val="dk1"/>
              </a:solidFill>
              <a:latin typeface="Quicksand"/>
              <a:ea typeface="Quicksand"/>
              <a:cs typeface="Quicksand"/>
              <a:sym typeface="Quicksand"/>
            </a:endParaRPr>
          </a:p>
        </p:txBody>
      </p:sp>
      <p:sp>
        <p:nvSpPr>
          <p:cNvPr id="589" name="Google Shape;589;p53"/>
          <p:cNvSpPr txBox="1"/>
          <p:nvPr/>
        </p:nvSpPr>
        <p:spPr>
          <a:xfrm>
            <a:off x="4829150" y="1730401"/>
            <a:ext cx="2557200" cy="846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Progressive taxation</a:t>
            </a:r>
            <a:endParaRPr sz="1200">
              <a:solidFill>
                <a:schemeClr val="dk1"/>
              </a:solidFill>
              <a:latin typeface="Mulish"/>
              <a:ea typeface="Mulish"/>
              <a:cs typeface="Mulish"/>
              <a:sym typeface="Mulish"/>
            </a:endParaRPr>
          </a:p>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Improved/Livable wages</a:t>
            </a:r>
            <a:endParaRPr sz="1200">
              <a:solidFill>
                <a:schemeClr val="dk1"/>
              </a:solidFill>
              <a:latin typeface="Mulish"/>
              <a:ea typeface="Mulish"/>
              <a:cs typeface="Mulish"/>
              <a:sym typeface="Mulish"/>
            </a:endParaRPr>
          </a:p>
          <a:p>
            <a:pPr indent="-304800" lvl="0" marL="457200" rtl="0" algn="l">
              <a:lnSpc>
                <a:spcPct val="115000"/>
              </a:lnSpc>
              <a:spcBef>
                <a:spcPts val="0"/>
              </a:spcBef>
              <a:spcAft>
                <a:spcPts val="0"/>
              </a:spcAft>
              <a:buClr>
                <a:schemeClr val="dk1"/>
              </a:buClr>
              <a:buSzPts val="1200"/>
              <a:buFont typeface="Mulish"/>
              <a:buChar char="●"/>
            </a:pPr>
            <a:r>
              <a:rPr lang="en" sz="1200">
                <a:solidFill>
                  <a:schemeClr val="dk1"/>
                </a:solidFill>
                <a:latin typeface="Mulish"/>
                <a:ea typeface="Mulish"/>
                <a:cs typeface="Mulish"/>
                <a:sym typeface="Mulish"/>
              </a:rPr>
              <a:t>Erase avoidance loopholes</a:t>
            </a:r>
            <a:endParaRPr sz="1200">
              <a:solidFill>
                <a:schemeClr val="dk1"/>
              </a:solidFill>
              <a:latin typeface="Mulish"/>
              <a:ea typeface="Mulish"/>
              <a:cs typeface="Mulish"/>
              <a:sym typeface="Mulish"/>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4"/>
          <p:cNvSpPr txBox="1"/>
          <p:nvPr>
            <p:ph type="title"/>
          </p:nvPr>
        </p:nvSpPr>
        <p:spPr>
          <a:xfrm>
            <a:off x="2769550" y="716100"/>
            <a:ext cx="3604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Limitations</a:t>
            </a:r>
            <a:endParaRPr sz="3600"/>
          </a:p>
        </p:txBody>
      </p:sp>
      <p:sp>
        <p:nvSpPr>
          <p:cNvPr id="595" name="Google Shape;595;p5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596" name="Google Shape;596;p54"/>
          <p:cNvCxnSpPr/>
          <p:nvPr/>
        </p:nvCxnSpPr>
        <p:spPr>
          <a:xfrm flipH="1" rot="10800000">
            <a:off x="1600600" y="1772166"/>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597" name="Google Shape;597;p54"/>
          <p:cNvCxnSpPr/>
          <p:nvPr/>
        </p:nvCxnSpPr>
        <p:spPr>
          <a:xfrm flipH="1" rot="10800000">
            <a:off x="1600600" y="575941"/>
            <a:ext cx="5942700" cy="6600"/>
          </a:xfrm>
          <a:prstGeom prst="straightConnector1">
            <a:avLst/>
          </a:prstGeom>
          <a:noFill/>
          <a:ln cap="flat" cmpd="sng" w="19050">
            <a:solidFill>
              <a:schemeClr val="lt1"/>
            </a:solidFill>
            <a:prstDash val="solid"/>
            <a:round/>
            <a:headEnd len="med" w="med" type="oval"/>
            <a:tailEnd len="med" w="med" type="oval"/>
          </a:ln>
        </p:spPr>
      </p:cxnSp>
      <p:sp>
        <p:nvSpPr>
          <p:cNvPr id="598" name="Google Shape;598;p54"/>
          <p:cNvSpPr/>
          <p:nvPr/>
        </p:nvSpPr>
        <p:spPr>
          <a:xfrm>
            <a:off x="2434400" y="10795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4"/>
          <p:cNvSpPr/>
          <p:nvPr/>
        </p:nvSpPr>
        <p:spPr>
          <a:xfrm>
            <a:off x="6470100" y="10795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54"/>
          <p:cNvSpPr txBox="1"/>
          <p:nvPr>
            <p:ph idx="1" type="subTitle"/>
          </p:nvPr>
        </p:nvSpPr>
        <p:spPr>
          <a:xfrm>
            <a:off x="1222800" y="2096675"/>
            <a:ext cx="6698400" cy="23949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5F7D95"/>
              </a:buClr>
              <a:buSzPts val="1400"/>
              <a:buFont typeface="Quicksand"/>
              <a:buChar char="●"/>
            </a:pPr>
            <a:r>
              <a:rPr lang="en">
                <a:solidFill>
                  <a:srgbClr val="5F7D95"/>
                </a:solidFill>
                <a:latin typeface="Quicksand"/>
                <a:ea typeface="Quicksand"/>
                <a:cs typeface="Quicksand"/>
                <a:sym typeface="Quicksand"/>
              </a:rPr>
              <a:t>Small training sample size of 24 countries led to higher error and limited predictive power</a:t>
            </a:r>
            <a:endParaRPr>
              <a:solidFill>
                <a:srgbClr val="5F7D95"/>
              </a:solidFill>
              <a:latin typeface="Quicksand"/>
              <a:ea typeface="Quicksand"/>
              <a:cs typeface="Quicksand"/>
              <a:sym typeface="Quicksand"/>
            </a:endParaRPr>
          </a:p>
          <a:p>
            <a:pPr indent="0" lvl="0" marL="457200" rtl="0" algn="l">
              <a:lnSpc>
                <a:spcPct val="115000"/>
              </a:lnSpc>
              <a:spcBef>
                <a:spcPts val="0"/>
              </a:spcBef>
              <a:spcAft>
                <a:spcPts val="0"/>
              </a:spcAft>
              <a:buNone/>
            </a:pPr>
            <a:r>
              <a:rPr lang="en">
                <a:solidFill>
                  <a:srgbClr val="5F7D95"/>
                </a:solidFill>
                <a:latin typeface="Quicksand"/>
                <a:ea typeface="Quicksand"/>
                <a:cs typeface="Quicksand"/>
                <a:sym typeface="Quicksand"/>
              </a:rPr>
              <a:t>Ex: Welfare Spending as % of GDP</a:t>
            </a:r>
            <a:endParaRPr>
              <a:solidFill>
                <a:srgbClr val="5F7D95"/>
              </a:solidFill>
              <a:latin typeface="Quicksand"/>
              <a:ea typeface="Quicksand"/>
              <a:cs typeface="Quicksand"/>
              <a:sym typeface="Quicksand"/>
            </a:endParaRPr>
          </a:p>
          <a:p>
            <a:pPr indent="-317500" lvl="0" marL="457200" rtl="0" algn="l">
              <a:lnSpc>
                <a:spcPct val="115000"/>
              </a:lnSpc>
              <a:spcBef>
                <a:spcPts val="0"/>
              </a:spcBef>
              <a:spcAft>
                <a:spcPts val="0"/>
              </a:spcAft>
              <a:buClr>
                <a:srgbClr val="5F7D95"/>
              </a:buClr>
              <a:buSzPts val="1400"/>
              <a:buFont typeface="Quicksand"/>
              <a:buChar char="●"/>
            </a:pPr>
            <a:r>
              <a:rPr lang="en">
                <a:solidFill>
                  <a:srgbClr val="5F7D95"/>
                </a:solidFill>
                <a:latin typeface="Quicksand"/>
                <a:ea typeface="Quicksand"/>
                <a:cs typeface="Quicksand"/>
                <a:sym typeface="Quicksand"/>
              </a:rPr>
              <a:t>Mostly high-income countries and excluded those outside large international orgs like OECD with limited public information</a:t>
            </a:r>
            <a:endParaRPr>
              <a:solidFill>
                <a:srgbClr val="5F7D95"/>
              </a:solidFill>
              <a:latin typeface="Quicksand"/>
              <a:ea typeface="Quicksand"/>
              <a:cs typeface="Quicksand"/>
              <a:sym typeface="Quicksand"/>
            </a:endParaRPr>
          </a:p>
          <a:p>
            <a:pPr indent="-317500" lvl="0" marL="457200" rtl="0" algn="l">
              <a:lnSpc>
                <a:spcPct val="115000"/>
              </a:lnSpc>
              <a:spcBef>
                <a:spcPts val="0"/>
              </a:spcBef>
              <a:spcAft>
                <a:spcPts val="0"/>
              </a:spcAft>
              <a:buClr>
                <a:srgbClr val="5F7D95"/>
              </a:buClr>
              <a:buSzPts val="1400"/>
              <a:buFont typeface="Quicksand"/>
              <a:buChar char="●"/>
            </a:pPr>
            <a:r>
              <a:rPr lang="en">
                <a:solidFill>
                  <a:srgbClr val="5F7D95"/>
                </a:solidFill>
                <a:latin typeface="Quicksand"/>
                <a:ea typeface="Quicksand"/>
                <a:cs typeface="Quicksand"/>
                <a:sym typeface="Quicksand"/>
              </a:rPr>
              <a:t>With more data, we could improve our models to produce more accurate insights on our variables</a:t>
            </a:r>
            <a:endParaRPr>
              <a:solidFill>
                <a:srgbClr val="5F7D95"/>
              </a:solidFill>
              <a:latin typeface="Quicksand"/>
              <a:ea typeface="Quicksand"/>
              <a:cs typeface="Quicksand"/>
              <a:sym typeface="Quicksand"/>
            </a:endParaRPr>
          </a:p>
          <a:p>
            <a:pPr indent="-317500" lvl="0" marL="457200" rtl="0" algn="l">
              <a:lnSpc>
                <a:spcPct val="115000"/>
              </a:lnSpc>
              <a:spcBef>
                <a:spcPts val="0"/>
              </a:spcBef>
              <a:spcAft>
                <a:spcPts val="0"/>
              </a:spcAft>
              <a:buClr>
                <a:srgbClr val="5F7D95"/>
              </a:buClr>
              <a:buSzPts val="1400"/>
              <a:buFont typeface="Quicksand"/>
              <a:buChar char="●"/>
            </a:pPr>
            <a:r>
              <a:rPr lang="en">
                <a:solidFill>
                  <a:srgbClr val="5F7D95"/>
                </a:solidFill>
                <a:latin typeface="Quicksand"/>
                <a:ea typeface="Quicksand"/>
                <a:cs typeface="Quicksand"/>
                <a:sym typeface="Quicksand"/>
              </a:rPr>
              <a:t>Some data points were not up-to-date</a:t>
            </a:r>
            <a:endParaRPr>
              <a:solidFill>
                <a:srgbClr val="5F7D95"/>
              </a:solidFill>
              <a:latin typeface="Quicksand"/>
              <a:ea typeface="Quicksand"/>
              <a:cs typeface="Quicksand"/>
              <a:sym typeface="Quicksa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5"/>
          <p:cNvSpPr txBox="1"/>
          <p:nvPr>
            <p:ph idx="1" type="subTitle"/>
          </p:nvPr>
        </p:nvSpPr>
        <p:spPr>
          <a:xfrm>
            <a:off x="414525" y="962450"/>
            <a:ext cx="8674800" cy="3759600"/>
          </a:xfrm>
          <a:prstGeom prst="rect">
            <a:avLst/>
          </a:prstGeom>
        </p:spPr>
        <p:txBody>
          <a:bodyPr anchorCtr="0" anchor="t" bIns="91425" lIns="91425" spcFirstLastPara="1" rIns="91425" wrap="square" tIns="91425">
            <a:noAutofit/>
          </a:bodyPr>
          <a:lstStyle/>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Board of Governors of the Federal Reserve System (US). (1989a, July 1). </a:t>
            </a:r>
            <a:r>
              <a:rPr i="1" lang="en" sz="550">
                <a:solidFill>
                  <a:srgbClr val="000000"/>
                </a:solidFill>
                <a:latin typeface="Quicksand"/>
                <a:ea typeface="Quicksand"/>
                <a:cs typeface="Quicksand"/>
                <a:sym typeface="Quicksand"/>
              </a:rPr>
              <a:t>Share of Total Net Worth Held by the Bottom 50% (1st to 50th Wealth Percentiles)</a:t>
            </a:r>
            <a:r>
              <a:rPr lang="en" sz="550">
                <a:solidFill>
                  <a:srgbClr val="000000"/>
                </a:solidFill>
                <a:latin typeface="Quicksand"/>
                <a:ea typeface="Quicksand"/>
                <a:cs typeface="Quicksand"/>
                <a:sym typeface="Quicksand"/>
              </a:rPr>
              <a:t>. FRED, Federal Reserve Bank of St. Louis. https://fred.stlouisfed.org/series/WFRBSB50215</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Board of Governors of the Federal Reserve System (US). (1989b, July 1). </a:t>
            </a:r>
            <a:r>
              <a:rPr i="1" lang="en" sz="550">
                <a:solidFill>
                  <a:srgbClr val="000000"/>
                </a:solidFill>
                <a:latin typeface="Quicksand"/>
                <a:ea typeface="Quicksand"/>
                <a:cs typeface="Quicksand"/>
                <a:sym typeface="Quicksand"/>
              </a:rPr>
              <a:t>Share of Total Net Worth Held by the Top 1% (99th to 100th Wealth Percentiles)</a:t>
            </a:r>
            <a:r>
              <a:rPr lang="en" sz="550">
                <a:solidFill>
                  <a:srgbClr val="000000"/>
                </a:solidFill>
                <a:latin typeface="Quicksand"/>
                <a:ea typeface="Quicksand"/>
                <a:cs typeface="Quicksand"/>
                <a:sym typeface="Quicksand"/>
              </a:rPr>
              <a:t>. FRED, Federal Reserve Bank of St. Louis. https://fred.stlouisfed.org/series/WFRBST01134</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i="1" lang="en" sz="550">
                <a:solidFill>
                  <a:srgbClr val="000000"/>
                </a:solidFill>
                <a:latin typeface="Quicksand"/>
                <a:ea typeface="Quicksand"/>
                <a:cs typeface="Quicksand"/>
                <a:sym typeface="Quicksand"/>
              </a:rPr>
              <a:t>Data</a:t>
            </a:r>
            <a:r>
              <a:rPr lang="en" sz="550">
                <a:solidFill>
                  <a:srgbClr val="000000"/>
                </a:solidFill>
                <a:latin typeface="Quicksand"/>
                <a:ea typeface="Quicksand"/>
                <a:cs typeface="Quicksand"/>
                <a:sym typeface="Quicksand"/>
              </a:rPr>
              <a:t>. (2018, July 24). Opportunity Insights. https://opportunityinsights.org/data/?geographic_level=0&amp;topic=0&amp;paper_id=546#resource-listing</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i="1" lang="en" sz="550">
                <a:solidFill>
                  <a:srgbClr val="000000"/>
                </a:solidFill>
                <a:latin typeface="Quicksand"/>
                <a:ea typeface="Quicksand"/>
                <a:cs typeface="Quicksand"/>
                <a:sym typeface="Quicksand"/>
              </a:rPr>
              <a:t>Digest of Education Statistics,.</a:t>
            </a:r>
            <a:r>
              <a:rPr lang="en" sz="550">
                <a:solidFill>
                  <a:srgbClr val="000000"/>
                </a:solidFill>
                <a:latin typeface="Quicksand"/>
                <a:ea typeface="Quicksand"/>
                <a:cs typeface="Quicksand"/>
                <a:sym typeface="Quicksand"/>
              </a:rPr>
              <a:t> (n.d.). Nces.ed.gov. https://nces.ed.gov/programs/digest/d23/tables/dt23_330.10.asp</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FRED. (2016). </a:t>
            </a:r>
            <a:r>
              <a:rPr i="1" lang="en" sz="550">
                <a:solidFill>
                  <a:srgbClr val="000000"/>
                </a:solidFill>
                <a:latin typeface="Quicksand"/>
                <a:ea typeface="Quicksand"/>
                <a:cs typeface="Quicksand"/>
                <a:sym typeface="Quicksand"/>
              </a:rPr>
              <a:t>GINI Index for the United States</a:t>
            </a:r>
            <a:r>
              <a:rPr lang="en" sz="550">
                <a:solidFill>
                  <a:srgbClr val="000000"/>
                </a:solidFill>
                <a:latin typeface="Quicksand"/>
                <a:ea typeface="Quicksand"/>
                <a:cs typeface="Quicksand"/>
                <a:sym typeface="Quicksand"/>
              </a:rPr>
              <a:t>. Stlouisfed.org. https://fred.stlouisfed.org/series/SIPOVGINIUSA</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FRED. (2018). </a:t>
            </a:r>
            <a:r>
              <a:rPr i="1" lang="en" sz="550">
                <a:solidFill>
                  <a:srgbClr val="000000"/>
                </a:solidFill>
                <a:latin typeface="Quicksand"/>
                <a:ea typeface="Quicksand"/>
                <a:cs typeface="Quicksand"/>
                <a:sym typeface="Quicksand"/>
              </a:rPr>
              <a:t>Real Median Personal Income in the United States</a:t>
            </a:r>
            <a:r>
              <a:rPr lang="en" sz="550">
                <a:solidFill>
                  <a:srgbClr val="000000"/>
                </a:solidFill>
                <a:latin typeface="Quicksand"/>
                <a:ea typeface="Quicksand"/>
                <a:cs typeface="Quicksand"/>
                <a:sym typeface="Quicksand"/>
              </a:rPr>
              <a:t>. Stlouisfed.org. https://fred.stlouisfed.org/series/MEPAINUSA672N</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FRED. (2023). </a:t>
            </a:r>
            <a:r>
              <a:rPr i="1" lang="en" sz="550">
                <a:solidFill>
                  <a:srgbClr val="000000"/>
                </a:solidFill>
                <a:latin typeface="Quicksand"/>
                <a:ea typeface="Quicksand"/>
                <a:cs typeface="Quicksand"/>
                <a:sym typeface="Quicksand"/>
              </a:rPr>
              <a:t>Consumer Price Index for All Urban Consumers: All Items</a:t>
            </a:r>
            <a:r>
              <a:rPr lang="en" sz="550">
                <a:solidFill>
                  <a:srgbClr val="000000"/>
                </a:solidFill>
                <a:latin typeface="Quicksand"/>
                <a:ea typeface="Quicksand"/>
                <a:cs typeface="Quicksand"/>
                <a:sym typeface="Quicksand"/>
              </a:rPr>
              <a:t>. Stlouisfed.org. https://fred.stlouisfed.org/series/CPIAUCSL</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i="1" lang="en" sz="550">
                <a:solidFill>
                  <a:srgbClr val="000000"/>
                </a:solidFill>
                <a:latin typeface="Quicksand"/>
                <a:ea typeface="Quicksand"/>
                <a:cs typeface="Quicksand"/>
                <a:sym typeface="Quicksand"/>
              </a:rPr>
              <a:t>Here’s Why Medicare Part B Premiums Have Increased Over Time</a:t>
            </a:r>
            <a:r>
              <a:rPr lang="en" sz="550">
                <a:solidFill>
                  <a:srgbClr val="000000"/>
                </a:solidFill>
                <a:latin typeface="Quicksand"/>
                <a:ea typeface="Quicksand"/>
                <a:cs typeface="Quicksand"/>
                <a:sym typeface="Quicksand"/>
              </a:rPr>
              <a:t>. (n.d.). The Balance. Retrieved August 1, 2024, from https://www.thebalancemoney.com/current-and-historical-medicare-part-b-premiums-2388483</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U.S. Bureau of Economic Analysis. (1947, January 1). </a:t>
            </a:r>
            <a:r>
              <a:rPr i="1" lang="en" sz="550">
                <a:solidFill>
                  <a:srgbClr val="000000"/>
                </a:solidFill>
                <a:latin typeface="Quicksand"/>
                <a:ea typeface="Quicksand"/>
                <a:cs typeface="Quicksand"/>
                <a:sym typeface="Quicksand"/>
              </a:rPr>
              <a:t>Personal saving as a percentage of disposable personal income</a:t>
            </a:r>
            <a:r>
              <a:rPr lang="en" sz="550">
                <a:solidFill>
                  <a:srgbClr val="000000"/>
                </a:solidFill>
                <a:latin typeface="Quicksand"/>
                <a:ea typeface="Quicksand"/>
                <a:cs typeface="Quicksand"/>
                <a:sym typeface="Quicksand"/>
              </a:rPr>
              <a:t>. FRED, Federal Reserve Bank of St. Louis. https://fred.stlouisfed.org/series/A072RC1Q156SBEA</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U.S. Federal Housing Finance Agency. (1975, January 1). </a:t>
            </a:r>
            <a:r>
              <a:rPr i="1" lang="en" sz="550">
                <a:solidFill>
                  <a:srgbClr val="000000"/>
                </a:solidFill>
                <a:latin typeface="Quicksand"/>
                <a:ea typeface="Quicksand"/>
                <a:cs typeface="Quicksand"/>
                <a:sym typeface="Quicksand"/>
              </a:rPr>
              <a:t>All-Transactions House Price Index for the United States</a:t>
            </a:r>
            <a:r>
              <a:rPr lang="en" sz="550">
                <a:solidFill>
                  <a:srgbClr val="000000"/>
                </a:solidFill>
                <a:latin typeface="Quicksand"/>
                <a:ea typeface="Quicksand"/>
                <a:cs typeface="Quicksand"/>
                <a:sym typeface="Quicksand"/>
              </a:rPr>
              <a:t>. FRED, Federal Reserve Bank of St. Louis. https://fred.stlouisfed.org/series/USSTHPI</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Degenhard, J. (2021, July 20). </a:t>
            </a:r>
            <a:r>
              <a:rPr i="1" lang="en" sz="550">
                <a:solidFill>
                  <a:srgbClr val="000000"/>
                </a:solidFill>
                <a:latin typeface="Quicksand"/>
                <a:ea typeface="Quicksand"/>
                <a:cs typeface="Quicksand"/>
                <a:sym typeface="Quicksand"/>
              </a:rPr>
              <a:t>Gini index worldwide 2020, by country</a:t>
            </a:r>
            <a:r>
              <a:rPr lang="en" sz="550">
                <a:solidFill>
                  <a:srgbClr val="000000"/>
                </a:solidFill>
                <a:latin typeface="Quicksand"/>
                <a:ea typeface="Quicksand"/>
                <a:cs typeface="Quicksand"/>
                <a:sym typeface="Quicksand"/>
              </a:rPr>
              <a:t>. Statista. https://www.statista.com/forecasts/1171540/gini-index-by-country</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i="1" lang="en" sz="550">
                <a:solidFill>
                  <a:srgbClr val="000000"/>
                </a:solidFill>
                <a:latin typeface="Quicksand"/>
                <a:ea typeface="Quicksand"/>
                <a:cs typeface="Quicksand"/>
                <a:sym typeface="Quicksand"/>
              </a:rPr>
              <a:t>Income share of the richest 1% (before tax)</a:t>
            </a:r>
            <a:r>
              <a:rPr lang="en" sz="550">
                <a:solidFill>
                  <a:srgbClr val="000000"/>
                </a:solidFill>
                <a:latin typeface="Quicksand"/>
                <a:ea typeface="Quicksand"/>
                <a:cs typeface="Quicksand"/>
                <a:sym typeface="Quicksand"/>
              </a:rPr>
              <a:t>. (n.d.). Our World in Data. Retrieved August 1, 2024, from https://ourworldindata.org/grapher/income-share-top-1-before-tax-wid?tab=table&amp;time=1820..latest</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Numbeo. (2023). </a:t>
            </a:r>
            <a:r>
              <a:rPr i="1" lang="en" sz="550">
                <a:solidFill>
                  <a:srgbClr val="000000"/>
                </a:solidFill>
                <a:latin typeface="Quicksand"/>
                <a:ea typeface="Quicksand"/>
                <a:cs typeface="Quicksand"/>
                <a:sym typeface="Quicksand"/>
              </a:rPr>
              <a:t>Health Care Index by Country 2019 Mid-Year</a:t>
            </a:r>
            <a:r>
              <a:rPr lang="en" sz="550">
                <a:solidFill>
                  <a:srgbClr val="000000"/>
                </a:solidFill>
                <a:latin typeface="Quicksand"/>
                <a:ea typeface="Quicksand"/>
                <a:cs typeface="Quicksand"/>
                <a:sym typeface="Quicksand"/>
              </a:rPr>
              <a:t>. Numbeo.com. https://www.numbeo.com/health-care/rankings_by_country.jsp</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i="1" lang="en" sz="550">
                <a:solidFill>
                  <a:srgbClr val="000000"/>
                </a:solidFill>
                <a:latin typeface="Quicksand"/>
                <a:ea typeface="Quicksand"/>
                <a:cs typeface="Quicksand"/>
                <a:sym typeface="Quicksand"/>
              </a:rPr>
              <a:t>Poverty rate</a:t>
            </a:r>
            <a:r>
              <a:rPr lang="en" sz="550">
                <a:solidFill>
                  <a:srgbClr val="000000"/>
                </a:solidFill>
                <a:latin typeface="Quicksand"/>
                <a:ea typeface="Quicksand"/>
                <a:cs typeface="Quicksand"/>
                <a:sym typeface="Quicksand"/>
              </a:rPr>
              <a:t>. (n.d.). OECD. Retrieved August 1, 2024, from https://www.oecd.org/en/data/indicators/poverty-rate.html?oecdcontrol-0ad85c6bab-var1=CHE%7CSWE</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i="1" lang="en" sz="550">
                <a:solidFill>
                  <a:srgbClr val="000000"/>
                </a:solidFill>
                <a:latin typeface="Quicksand"/>
                <a:ea typeface="Quicksand"/>
                <a:cs typeface="Quicksand"/>
                <a:sym typeface="Quicksand"/>
              </a:rPr>
              <a:t>Social Mobility by Country 2021</a:t>
            </a:r>
            <a:r>
              <a:rPr lang="en" sz="550">
                <a:solidFill>
                  <a:srgbClr val="000000"/>
                </a:solidFill>
                <a:latin typeface="Quicksand"/>
                <a:ea typeface="Quicksand"/>
                <a:cs typeface="Quicksand"/>
                <a:sym typeface="Quicksand"/>
              </a:rPr>
              <a:t>. (n.d.). Worldpopulationreview.com. https://worldpopulationreview.com/country-rankings/social-mobility-by-country</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i="1" lang="en" sz="550">
                <a:solidFill>
                  <a:srgbClr val="000000"/>
                </a:solidFill>
                <a:latin typeface="Quicksand"/>
                <a:ea typeface="Quicksand"/>
                <a:cs typeface="Quicksand"/>
                <a:sym typeface="Quicksand"/>
              </a:rPr>
              <a:t>The Education Price Index 2022 — a Study by N26</a:t>
            </a:r>
            <a:r>
              <a:rPr lang="en" sz="550">
                <a:solidFill>
                  <a:srgbClr val="000000"/>
                </a:solidFill>
                <a:latin typeface="Quicksand"/>
                <a:ea typeface="Quicksand"/>
                <a:cs typeface="Quicksand"/>
                <a:sym typeface="Quicksand"/>
              </a:rPr>
              <a:t>. (n.d.). N26.com. https://n26.com/en-eu/the-education-price-index</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Transparency International. (2024). </a:t>
            </a:r>
            <a:r>
              <a:rPr i="1" lang="en" sz="550">
                <a:solidFill>
                  <a:srgbClr val="000000"/>
                </a:solidFill>
                <a:latin typeface="Quicksand"/>
                <a:ea typeface="Quicksand"/>
                <a:cs typeface="Quicksand"/>
                <a:sym typeface="Quicksand"/>
              </a:rPr>
              <a:t>2023 Corruption Perceptions Index</a:t>
            </a:r>
            <a:r>
              <a:rPr lang="en" sz="550">
                <a:solidFill>
                  <a:srgbClr val="000000"/>
                </a:solidFill>
                <a:latin typeface="Quicksand"/>
                <a:ea typeface="Quicksand"/>
                <a:cs typeface="Quicksand"/>
                <a:sym typeface="Quicksand"/>
              </a:rPr>
              <a:t>. Transparency.org; Transparency International. https://www.transparency.org/en/cpi/2023</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Wikipedia Contributors. (2019, September 6). </a:t>
            </a:r>
            <a:r>
              <a:rPr i="1" lang="en" sz="550">
                <a:solidFill>
                  <a:srgbClr val="000000"/>
                </a:solidFill>
                <a:latin typeface="Quicksand"/>
                <a:ea typeface="Quicksand"/>
                <a:cs typeface="Quicksand"/>
                <a:sym typeface="Quicksand"/>
              </a:rPr>
              <a:t>List of countries by social welfare spending</a:t>
            </a:r>
            <a:r>
              <a:rPr lang="en" sz="550">
                <a:solidFill>
                  <a:srgbClr val="000000"/>
                </a:solidFill>
                <a:latin typeface="Quicksand"/>
                <a:ea typeface="Quicksand"/>
                <a:cs typeface="Quicksand"/>
                <a:sym typeface="Quicksand"/>
              </a:rPr>
              <a:t>. Wikipedia; Wikimedia Foundation. https://en.wikipedia.org/wiki/List_of_countries_by_social_welfare_spending</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World Population Review. (2021). </a:t>
            </a:r>
            <a:r>
              <a:rPr i="1" lang="en" sz="550">
                <a:solidFill>
                  <a:srgbClr val="000000"/>
                </a:solidFill>
                <a:latin typeface="Quicksand"/>
                <a:ea typeface="Quicksand"/>
                <a:cs typeface="Quicksand"/>
                <a:sym typeface="Quicksand"/>
              </a:rPr>
              <a:t>Education Index by Country 2023</a:t>
            </a:r>
            <a:r>
              <a:rPr lang="en" sz="550">
                <a:solidFill>
                  <a:srgbClr val="000000"/>
                </a:solidFill>
                <a:latin typeface="Quicksand"/>
                <a:ea typeface="Quicksand"/>
                <a:cs typeface="Quicksand"/>
                <a:sym typeface="Quicksand"/>
              </a:rPr>
              <a:t>. Worldpopulationreview.com. https://worldpopulationreview.com/country-rankings/education-index-by-country</a:t>
            </a:r>
            <a:endParaRPr sz="550">
              <a:solidFill>
                <a:srgbClr val="000000"/>
              </a:solidFill>
              <a:latin typeface="Quicksand"/>
              <a:ea typeface="Quicksand"/>
              <a:cs typeface="Quicksand"/>
              <a:sym typeface="Quicksand"/>
            </a:endParaRPr>
          </a:p>
          <a:p>
            <a:pPr indent="-457200" lvl="0" marL="0" rtl="0" algn="ctr">
              <a:lnSpc>
                <a:spcPct val="200000"/>
              </a:lnSpc>
              <a:spcBef>
                <a:spcPts val="0"/>
              </a:spcBef>
              <a:spcAft>
                <a:spcPts val="0"/>
              </a:spcAft>
              <a:buNone/>
            </a:pPr>
            <a:r>
              <a:rPr lang="en" sz="550">
                <a:solidFill>
                  <a:srgbClr val="000000"/>
                </a:solidFill>
                <a:latin typeface="Quicksand"/>
                <a:ea typeface="Quicksand"/>
                <a:cs typeface="Quicksand"/>
                <a:sym typeface="Quicksand"/>
              </a:rPr>
              <a:t>Worldometer. (2023). </a:t>
            </a:r>
            <a:r>
              <a:rPr i="1" lang="en" sz="550">
                <a:solidFill>
                  <a:srgbClr val="000000"/>
                </a:solidFill>
                <a:latin typeface="Quicksand"/>
                <a:ea typeface="Quicksand"/>
                <a:cs typeface="Quicksand"/>
                <a:sym typeface="Quicksand"/>
              </a:rPr>
              <a:t>GDP by Country</a:t>
            </a:r>
            <a:r>
              <a:rPr lang="en" sz="550">
                <a:solidFill>
                  <a:srgbClr val="000000"/>
                </a:solidFill>
                <a:latin typeface="Quicksand"/>
                <a:ea typeface="Quicksand"/>
                <a:cs typeface="Quicksand"/>
                <a:sym typeface="Quicksand"/>
              </a:rPr>
              <a:t>. WorldoMeters. https://www.worldometers.info/gdp/gdp-by-country/</a:t>
            </a:r>
            <a:endParaRPr sz="550">
              <a:latin typeface="Quicksand"/>
              <a:ea typeface="Quicksand"/>
              <a:cs typeface="Quicksand"/>
              <a:sym typeface="Quicksand"/>
            </a:endParaRPr>
          </a:p>
        </p:txBody>
      </p:sp>
      <p:sp>
        <p:nvSpPr>
          <p:cNvPr id="606" name="Google Shape;606;p5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607" name="Google Shape;607;p55"/>
          <p:cNvSpPr txBox="1"/>
          <p:nvPr>
            <p:ph type="title"/>
          </p:nvPr>
        </p:nvSpPr>
        <p:spPr>
          <a:xfrm>
            <a:off x="3472950" y="577625"/>
            <a:ext cx="2198100" cy="33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References</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6"/>
          <p:cNvSpPr txBox="1"/>
          <p:nvPr>
            <p:ph type="title"/>
          </p:nvPr>
        </p:nvSpPr>
        <p:spPr>
          <a:xfrm>
            <a:off x="2540350" y="1981125"/>
            <a:ext cx="4039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000"/>
              <a:t>Thank You</a:t>
            </a:r>
            <a:endParaRPr sz="6000"/>
          </a:p>
        </p:txBody>
      </p:sp>
      <p:sp>
        <p:nvSpPr>
          <p:cNvPr id="613" name="Google Shape;613;p5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614" name="Google Shape;614;p56"/>
          <p:cNvCxnSpPr/>
          <p:nvPr/>
        </p:nvCxnSpPr>
        <p:spPr>
          <a:xfrm flipH="1" rot="10800000">
            <a:off x="1600600" y="3329441"/>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615" name="Google Shape;615;p56"/>
          <p:cNvCxnSpPr/>
          <p:nvPr/>
        </p:nvCxnSpPr>
        <p:spPr>
          <a:xfrm flipH="1" rot="10800000">
            <a:off x="1600600" y="1714341"/>
            <a:ext cx="5942700" cy="6600"/>
          </a:xfrm>
          <a:prstGeom prst="straightConnector1">
            <a:avLst/>
          </a:prstGeom>
          <a:noFill/>
          <a:ln cap="flat" cmpd="sng" w="19050">
            <a:solidFill>
              <a:schemeClr val="lt1"/>
            </a:solidFill>
            <a:prstDash val="solid"/>
            <a:round/>
            <a:headEnd len="med" w="med" type="oval"/>
            <a:tailEnd len="med" w="med" type="oval"/>
          </a:ln>
        </p:spPr>
      </p:cxnSp>
      <p:sp>
        <p:nvSpPr>
          <p:cNvPr id="616" name="Google Shape;616;p56"/>
          <p:cNvSpPr/>
          <p:nvPr/>
        </p:nvSpPr>
        <p:spPr>
          <a:xfrm>
            <a:off x="1600600" y="2196050"/>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56"/>
          <p:cNvSpPr/>
          <p:nvPr/>
        </p:nvSpPr>
        <p:spPr>
          <a:xfrm>
            <a:off x="7280500" y="22179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FDEE7"/>
      </a:lt1>
      <a:dk2>
        <a:srgbClr val="809FAF"/>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